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21383625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ED4F1"/>
    <a:srgbClr val="F2F2F2"/>
    <a:srgbClr val="DAEDF4"/>
    <a:srgbClr val="3764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0D6A09-C236-4CEE-B03C-6AC249C6D51C}" v="136" dt="2024-12-26T02:36:53.6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75" autoAdjust="0"/>
    <p:restoredTop sz="94660"/>
  </p:normalViewPr>
  <p:slideViewPr>
    <p:cSldViewPr snapToGrid="0">
      <p:cViewPr>
        <p:scale>
          <a:sx n="50" d="100"/>
          <a:sy n="50" d="100"/>
        </p:scale>
        <p:origin x="922" y="-5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54765"/>
            <a:ext cx="18176081" cy="10540259"/>
          </a:xfrm>
        </p:spPr>
        <p:txBody>
          <a:bodyPr anchor="b"/>
          <a:lstStyle>
            <a:lvl1pPr algn="ctr">
              <a:defRPr sz="1403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</p:spPr>
        <p:txBody>
          <a:bodyPr/>
          <a:lstStyle>
            <a:lvl1pPr marL="0" indent="0" algn="ctr">
              <a:buNone/>
              <a:defRPr sz="5612"/>
            </a:lvl1pPr>
            <a:lvl2pPr marL="1069162" indent="0" algn="ctr">
              <a:buNone/>
              <a:defRPr sz="4677"/>
            </a:lvl2pPr>
            <a:lvl3pPr marL="2138324" indent="0" algn="ctr">
              <a:buNone/>
              <a:defRPr sz="4209"/>
            </a:lvl3pPr>
            <a:lvl4pPr marL="3207487" indent="0" algn="ctr">
              <a:buNone/>
              <a:defRPr sz="3742"/>
            </a:lvl4pPr>
            <a:lvl5pPr marL="4276649" indent="0" algn="ctr">
              <a:buNone/>
              <a:defRPr sz="3742"/>
            </a:lvl5pPr>
            <a:lvl6pPr marL="5345811" indent="0" algn="ctr">
              <a:buNone/>
              <a:defRPr sz="3742"/>
            </a:lvl6pPr>
            <a:lvl7pPr marL="6414973" indent="0" algn="ctr">
              <a:buNone/>
              <a:defRPr sz="3742"/>
            </a:lvl7pPr>
            <a:lvl8pPr marL="7484135" indent="0" algn="ctr">
              <a:buNone/>
              <a:defRPr sz="3742"/>
            </a:lvl8pPr>
            <a:lvl9pPr marL="8553298" indent="0" algn="ctr">
              <a:buNone/>
              <a:defRPr sz="3742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DCB2B-6B64-41C9-8E85-C15E62A0C27C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1F986-1350-4B17-B602-F35A7C7D13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1788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DCB2B-6B64-41C9-8E85-C15E62A0C27C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1F986-1350-4B17-B602-F35A7C7D13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2378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</p:spPr>
        <p:txBody>
          <a:bodyPr anchor="b"/>
          <a:lstStyle>
            <a:lvl1pPr>
              <a:defRPr sz="1403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</p:spPr>
        <p:txBody>
          <a:bodyPr/>
          <a:lstStyle>
            <a:lvl1pPr marL="0" indent="0">
              <a:buNone/>
              <a:defRPr sz="5612">
                <a:solidFill>
                  <a:schemeClr val="tx1"/>
                </a:solidFill>
              </a:defRPr>
            </a:lvl1pPr>
            <a:lvl2pPr marL="1069162" indent="0">
              <a:buNone/>
              <a:defRPr sz="4677">
                <a:solidFill>
                  <a:schemeClr val="tx1">
                    <a:tint val="75000"/>
                  </a:schemeClr>
                </a:solidFill>
              </a:defRPr>
            </a:lvl2pPr>
            <a:lvl3pPr marL="2138324" indent="0">
              <a:buNone/>
              <a:defRPr sz="4209">
                <a:solidFill>
                  <a:schemeClr val="tx1">
                    <a:tint val="75000"/>
                  </a:schemeClr>
                </a:solidFill>
              </a:defRPr>
            </a:lvl3pPr>
            <a:lvl4pPr marL="3207487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4pPr>
            <a:lvl5pPr marL="4276649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5pPr>
            <a:lvl6pPr marL="5345811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6pPr>
            <a:lvl7pPr marL="6414973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7pPr>
            <a:lvl8pPr marL="7484135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8pPr>
            <a:lvl9pPr marL="8553298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DCB2B-6B64-41C9-8E85-C15E62A0C27C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1F986-1350-4B17-B602-F35A7C7D13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520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DCB2B-6B64-41C9-8E85-C15E62A0C27C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1F986-1350-4B17-B602-F35A7C7D13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02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611882"/>
            <a:ext cx="18443377" cy="585180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7421634"/>
            <a:ext cx="9046274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11058863"/>
            <a:ext cx="9046274" cy="1626592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7421634"/>
            <a:ext cx="9090826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11058863"/>
            <a:ext cx="9090826" cy="1626592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DCB2B-6B64-41C9-8E85-C15E62A0C27C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1F986-1350-4B17-B602-F35A7C7D13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6066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DCB2B-6B64-41C9-8E85-C15E62A0C27C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1F986-1350-4B17-B602-F35A7C7D13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6740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DCB2B-6B64-41C9-8E85-C15E62A0C27C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1F986-1350-4B17-B602-F35A7C7D13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1618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>
              <a:defRPr sz="7483"/>
            </a:lvl1pPr>
            <a:lvl2pPr>
              <a:defRPr sz="6548"/>
            </a:lvl2pPr>
            <a:lvl3pPr>
              <a:defRPr sz="5612"/>
            </a:lvl3pPr>
            <a:lvl4pPr>
              <a:defRPr sz="4677"/>
            </a:lvl4pPr>
            <a:lvl5pPr>
              <a:defRPr sz="4677"/>
            </a:lvl5pPr>
            <a:lvl6pPr>
              <a:defRPr sz="4677"/>
            </a:lvl6pPr>
            <a:lvl7pPr>
              <a:defRPr sz="4677"/>
            </a:lvl7pPr>
            <a:lvl8pPr>
              <a:defRPr sz="4677"/>
            </a:lvl8pPr>
            <a:lvl9pPr>
              <a:defRPr sz="467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DCB2B-6B64-41C9-8E85-C15E62A0C27C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1F986-1350-4B17-B602-F35A7C7D13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260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6" y="4359077"/>
            <a:ext cx="10825460" cy="21515024"/>
          </a:xfrm>
        </p:spPr>
        <p:txBody>
          <a:bodyPr anchor="t"/>
          <a:lstStyle>
            <a:lvl1pPr marL="0" indent="0">
              <a:buNone/>
              <a:defRPr sz="7483"/>
            </a:lvl1pPr>
            <a:lvl2pPr marL="1069162" indent="0">
              <a:buNone/>
              <a:defRPr sz="6548"/>
            </a:lvl2pPr>
            <a:lvl3pPr marL="2138324" indent="0">
              <a:buNone/>
              <a:defRPr sz="5612"/>
            </a:lvl3pPr>
            <a:lvl4pPr marL="3207487" indent="0">
              <a:buNone/>
              <a:defRPr sz="4677"/>
            </a:lvl4pPr>
            <a:lvl5pPr marL="4276649" indent="0">
              <a:buNone/>
              <a:defRPr sz="4677"/>
            </a:lvl5pPr>
            <a:lvl6pPr marL="5345811" indent="0">
              <a:buNone/>
              <a:defRPr sz="4677"/>
            </a:lvl6pPr>
            <a:lvl7pPr marL="6414973" indent="0">
              <a:buNone/>
              <a:defRPr sz="4677"/>
            </a:lvl7pPr>
            <a:lvl8pPr marL="7484135" indent="0">
              <a:buNone/>
              <a:defRPr sz="4677"/>
            </a:lvl8pPr>
            <a:lvl9pPr marL="8553298" indent="0">
              <a:buNone/>
              <a:defRPr sz="467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DCB2B-6B64-41C9-8E85-C15E62A0C27C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1F986-1350-4B17-B602-F35A7C7D13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0408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DCB2B-6B64-41C9-8E85-C15E62A0C27C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1F986-1350-4B17-B602-F35A7C7D13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7662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7" cy="256568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DCB2B-6B64-41C9-8E85-C15E62A0C27C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1F986-1350-4B17-B602-F35A7C7D13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2904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BDCB2B-6B64-41C9-8E85-C15E62A0C27C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21F986-1350-4B17-B602-F35A7C7D13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4469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138324" rtl="0" eaLnBrk="1" latinLnBrk="1" hangingPunct="1">
        <a:lnSpc>
          <a:spcPct val="90000"/>
        </a:lnSpc>
        <a:spcBef>
          <a:spcPct val="0"/>
        </a:spcBef>
        <a:buNone/>
        <a:defRPr sz="102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581" indent="-534581" algn="l" defTabSz="2138324" rtl="0" eaLnBrk="1" latinLnBrk="1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8" kern="1200">
          <a:solidFill>
            <a:schemeClr val="tx1"/>
          </a:solidFill>
          <a:latin typeface="+mn-lt"/>
          <a:ea typeface="+mn-ea"/>
          <a:cs typeface="+mn-cs"/>
        </a:defRPr>
      </a:lvl1pPr>
      <a:lvl2pPr marL="1603743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2" kern="1200">
          <a:solidFill>
            <a:schemeClr val="tx1"/>
          </a:solidFill>
          <a:latin typeface="+mn-lt"/>
          <a:ea typeface="+mn-ea"/>
          <a:cs typeface="+mn-cs"/>
        </a:defRPr>
      </a:lvl2pPr>
      <a:lvl3pPr marL="2672906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742068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811230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그림 274">
            <a:extLst>
              <a:ext uri="{FF2B5EF4-FFF2-40B4-BE49-F238E27FC236}">
                <a16:creationId xmlns:a16="http://schemas.microsoft.com/office/drawing/2014/main" id="{1D026FC8-DCC6-0DFD-9B6F-162C3246A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9050"/>
            <a:ext cx="21412200" cy="4102637"/>
          </a:xfrm>
          <a:prstGeom prst="rect">
            <a:avLst/>
          </a:prstGeom>
        </p:spPr>
      </p:pic>
      <p:sp>
        <p:nvSpPr>
          <p:cNvPr id="278" name="사각형: 둥근 모서리 277">
            <a:extLst>
              <a:ext uri="{FF2B5EF4-FFF2-40B4-BE49-F238E27FC236}">
                <a16:creationId xmlns:a16="http://schemas.microsoft.com/office/drawing/2014/main" id="{681DF1FB-B5B3-91CD-4448-6CFD77261C16}"/>
              </a:ext>
            </a:extLst>
          </p:cNvPr>
          <p:cNvSpPr/>
          <p:nvPr/>
        </p:nvSpPr>
        <p:spPr>
          <a:xfrm>
            <a:off x="745490" y="4490085"/>
            <a:ext cx="9639300" cy="693086"/>
          </a:xfrm>
          <a:prstGeom prst="roundRect">
            <a:avLst>
              <a:gd name="adj" fmla="val 50000"/>
            </a:avLst>
          </a:prstGeom>
          <a:solidFill>
            <a:srgbClr val="3764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36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Abstract</a:t>
            </a:r>
            <a:endParaRPr lang="ko-KR" altLang="en-US" sz="36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542D6F-D60D-3ED7-7824-0F9D65099F66}"/>
              </a:ext>
            </a:extLst>
          </p:cNvPr>
          <p:cNvSpPr txBox="1"/>
          <p:nvPr/>
        </p:nvSpPr>
        <p:spPr>
          <a:xfrm>
            <a:off x="789032" y="657431"/>
            <a:ext cx="1353656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56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SAR ADC용 Split C-DAC 및 Bootstrapped Switch 설계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A00975-377C-7B3E-E026-A375F7D29C0F}"/>
              </a:ext>
            </a:extLst>
          </p:cNvPr>
          <p:cNvSpPr txBox="1"/>
          <p:nvPr/>
        </p:nvSpPr>
        <p:spPr>
          <a:xfrm>
            <a:off x="789032" y="2617862"/>
            <a:ext cx="1353656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최장혁, 김규현, 박치수, 서준상, 유찬종, 이선우, 임한규, 정규성</a:t>
            </a:r>
          </a:p>
          <a:p>
            <a:r>
              <a:rPr lang="ko-KR" altLang="en-US" sz="2800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중앙대학교 전자전기공학부 · Chung-Ang University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115D63F-0E61-3F44-2F25-74E648836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43136" y="1263618"/>
            <a:ext cx="2680101" cy="2517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B17586DF-464F-011C-A3E2-BAED1B5E33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514"/>
          <a:stretch/>
        </p:blipFill>
        <p:spPr bwMode="auto">
          <a:xfrm>
            <a:off x="19889106" y="725160"/>
            <a:ext cx="1451611" cy="538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9A8B7B3-E78F-EB89-2DAB-0816A3DE04C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0000"/>
          <a:stretch>
            <a:fillRect/>
          </a:stretch>
        </p:blipFill>
        <p:spPr>
          <a:xfrm>
            <a:off x="2934652" y="29939951"/>
            <a:ext cx="15786736" cy="335262"/>
          </a:xfrm>
          <a:prstGeom prst="rect">
            <a:avLst/>
          </a:prstGeom>
        </p:spPr>
      </p:pic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906FBAD4-14E6-4950-B0CA-BE4A483847B3}"/>
              </a:ext>
            </a:extLst>
          </p:cNvPr>
          <p:cNvSpPr/>
          <p:nvPr/>
        </p:nvSpPr>
        <p:spPr>
          <a:xfrm>
            <a:off x="10922635" y="4490085"/>
            <a:ext cx="9639300" cy="694944"/>
          </a:xfrm>
          <a:prstGeom prst="roundRect">
            <a:avLst>
              <a:gd name="adj" fmla="val 50000"/>
            </a:avLst>
          </a:prstGeom>
          <a:solidFill>
            <a:srgbClr val="3764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36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Result</a:t>
            </a:r>
            <a:endParaRPr lang="ko-KR" altLang="en-US" sz="36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1E24B91-94DF-32B4-8BC1-30F020F26BD8}"/>
              </a:ext>
            </a:extLst>
          </p:cNvPr>
          <p:cNvSpPr/>
          <p:nvPr/>
        </p:nvSpPr>
        <p:spPr>
          <a:xfrm>
            <a:off x="10922635" y="27612673"/>
            <a:ext cx="9639300" cy="694944"/>
          </a:xfrm>
          <a:prstGeom prst="roundRect">
            <a:avLst>
              <a:gd name="adj" fmla="val 50000"/>
            </a:avLst>
          </a:prstGeom>
          <a:solidFill>
            <a:srgbClr val="3764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36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Acknowledgement</a:t>
            </a:r>
            <a:endParaRPr lang="ko-KR" altLang="en-US" sz="36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10E8735-74E4-723F-150C-5CD0F9F49E45}"/>
              </a:ext>
            </a:extLst>
          </p:cNvPr>
          <p:cNvSpPr/>
          <p:nvPr/>
        </p:nvSpPr>
        <p:spPr>
          <a:xfrm>
            <a:off x="10922635" y="24947725"/>
            <a:ext cx="9639300" cy="694944"/>
          </a:xfrm>
          <a:prstGeom prst="roundRect">
            <a:avLst>
              <a:gd name="adj" fmla="val 50000"/>
            </a:avLst>
          </a:prstGeom>
          <a:solidFill>
            <a:srgbClr val="3764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36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Conclusions</a:t>
            </a:r>
            <a:endParaRPr lang="ko-KR" altLang="en-US" sz="36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127B7F4C-10D5-67C2-8036-45E30BB44EB0}"/>
              </a:ext>
            </a:extLst>
          </p:cNvPr>
          <p:cNvSpPr/>
          <p:nvPr/>
        </p:nvSpPr>
        <p:spPr>
          <a:xfrm>
            <a:off x="789032" y="12353156"/>
            <a:ext cx="9639300" cy="694944"/>
          </a:xfrm>
          <a:prstGeom prst="roundRect">
            <a:avLst>
              <a:gd name="adj" fmla="val 50000"/>
            </a:avLst>
          </a:prstGeom>
          <a:solidFill>
            <a:srgbClr val="3764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36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Methods &amp; Materials</a:t>
            </a:r>
            <a:endParaRPr lang="ko-KR" altLang="en-US" sz="36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4539441F-57E6-E7BE-C970-441430E24D2A}"/>
              </a:ext>
            </a:extLst>
          </p:cNvPr>
          <p:cNvSpPr/>
          <p:nvPr/>
        </p:nvSpPr>
        <p:spPr>
          <a:xfrm>
            <a:off x="1937566" y="13194550"/>
            <a:ext cx="7633154" cy="541020"/>
          </a:xfrm>
          <a:prstGeom prst="roundRect">
            <a:avLst>
              <a:gd name="adj" fmla="val 50000"/>
            </a:avLst>
          </a:prstGeom>
          <a:solidFill>
            <a:srgbClr val="BED4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tx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Split C-DAC Architecture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85C920DB-3A6D-AEE1-9124-562B14C88048}"/>
              </a:ext>
            </a:extLst>
          </p:cNvPr>
          <p:cNvSpPr/>
          <p:nvPr/>
        </p:nvSpPr>
        <p:spPr>
          <a:xfrm>
            <a:off x="745490" y="8575200"/>
            <a:ext cx="9639300" cy="694944"/>
          </a:xfrm>
          <a:prstGeom prst="roundRect">
            <a:avLst>
              <a:gd name="adj" fmla="val 50000"/>
            </a:avLst>
          </a:prstGeom>
          <a:solidFill>
            <a:srgbClr val="3764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36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Introduction</a:t>
            </a:r>
            <a:endParaRPr lang="ko-KR" altLang="en-US" sz="36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EB001E4-1AD1-B257-C4DB-CA41410DFDA3}"/>
              </a:ext>
            </a:extLst>
          </p:cNvPr>
          <p:cNvSpPr txBox="1"/>
          <p:nvPr/>
        </p:nvSpPr>
        <p:spPr>
          <a:xfrm>
            <a:off x="789032" y="5254625"/>
            <a:ext cx="9455356" cy="3046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We present a 6-bit 10 MS/s SAR ADC front-end optimized for area and power. The split C-DAC uses an 8/7·C bridge capacitor with identical 3.38 fF unit caps, cutting total capacitance from 64C to 16.14C and switching energy 1.044→0.589 pJ (−43.6%). A bootstrapped switch drives the 27.52 fF load at 10 MS/s; dual dummy transistors suppress clock-feedthrough (ΔV ≈ 0.119 V, +0.152 LSB). Sizing M4/M5/M9 ×1.5 gives ENOB 8.83 bit, SFDR 55.7 dBc and THD −55 dB at 12.56 fJ/sample, with margin for layout parasitics (DNL 0.088, INL 0.075 LSB).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B37BFC9C-17A4-7328-58A8-92BC59A1F3EE}"/>
              </a:ext>
            </a:extLst>
          </p:cNvPr>
          <p:cNvSpPr/>
          <p:nvPr/>
        </p:nvSpPr>
        <p:spPr>
          <a:xfrm>
            <a:off x="11925708" y="5366003"/>
            <a:ext cx="7633154" cy="541020"/>
          </a:xfrm>
          <a:prstGeom prst="roundRect">
            <a:avLst>
              <a:gd name="adj" fmla="val 50000"/>
            </a:avLst>
          </a:prstGeom>
          <a:solidFill>
            <a:srgbClr val="BED4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tx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Static Linearity (DNL / INL)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CDEFB0B9-FEA8-C6E0-1D6C-769E80524FAA}"/>
              </a:ext>
            </a:extLst>
          </p:cNvPr>
          <p:cNvSpPr/>
          <p:nvPr/>
        </p:nvSpPr>
        <p:spPr>
          <a:xfrm>
            <a:off x="1937566" y="26269112"/>
            <a:ext cx="7633154" cy="541020"/>
          </a:xfrm>
          <a:prstGeom prst="roundRect">
            <a:avLst>
              <a:gd name="adj" fmla="val 50000"/>
            </a:avLst>
          </a:prstGeom>
          <a:solidFill>
            <a:srgbClr val="BED4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tx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Clock-Feedthrough Compensation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59354BD-DD04-89BE-0092-FCEF89913398}"/>
              </a:ext>
            </a:extLst>
          </p:cNvPr>
          <p:cNvSpPr/>
          <p:nvPr/>
        </p:nvSpPr>
        <p:spPr>
          <a:xfrm>
            <a:off x="1937566" y="18767988"/>
            <a:ext cx="7633154" cy="541020"/>
          </a:xfrm>
          <a:prstGeom prst="roundRect">
            <a:avLst>
              <a:gd name="adj" fmla="val 50000"/>
            </a:avLst>
          </a:prstGeom>
          <a:solidFill>
            <a:srgbClr val="BED4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tx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Bootstrapped Switch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BFA6676-02E5-E032-33EF-BFB4BAFB5F10}"/>
              </a:ext>
            </a:extLst>
          </p:cNvPr>
          <p:cNvSpPr/>
          <p:nvPr/>
        </p:nvSpPr>
        <p:spPr>
          <a:xfrm>
            <a:off x="11925708" y="17901774"/>
            <a:ext cx="7633154" cy="541020"/>
          </a:xfrm>
          <a:prstGeom prst="roundRect">
            <a:avLst>
              <a:gd name="adj" fmla="val 50000"/>
            </a:avLst>
          </a:prstGeom>
          <a:solidFill>
            <a:srgbClr val="BED4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tx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Transistor Sizing Trade-off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052166D-577D-4814-461E-13D41C052D74}"/>
              </a:ext>
            </a:extLst>
          </p:cNvPr>
          <p:cNvSpPr/>
          <p:nvPr/>
        </p:nvSpPr>
        <p:spPr>
          <a:xfrm>
            <a:off x="11925708" y="13121730"/>
            <a:ext cx="7633154" cy="541020"/>
          </a:xfrm>
          <a:prstGeom prst="roundRect">
            <a:avLst>
              <a:gd name="adj" fmla="val 50000"/>
            </a:avLst>
          </a:prstGeom>
          <a:solidFill>
            <a:srgbClr val="BED4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tx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Switching Energy &amp; Area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1E820015-4B5A-30BB-941A-49FE197E3FBF}"/>
              </a:ext>
            </a:extLst>
          </p:cNvPr>
          <p:cNvSpPr/>
          <p:nvPr/>
        </p:nvSpPr>
        <p:spPr>
          <a:xfrm>
            <a:off x="11925708" y="21514152"/>
            <a:ext cx="7633154" cy="541020"/>
          </a:xfrm>
          <a:prstGeom prst="roundRect">
            <a:avLst>
              <a:gd name="adj" fmla="val 50000"/>
            </a:avLst>
          </a:prstGeom>
          <a:solidFill>
            <a:srgbClr val="BED4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tx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Dynamic Performance (FFT)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5363767-0200-1382-872F-7DE14999E69F}"/>
              </a:ext>
            </a:extLst>
          </p:cNvPr>
          <p:cNvSpPr/>
          <p:nvPr/>
        </p:nvSpPr>
        <p:spPr>
          <a:xfrm>
            <a:off x="984794" y="13900650"/>
            <a:ext cx="9204236" cy="1721254"/>
          </a:xfrm>
          <a:prstGeom prst="rect">
            <a:avLst/>
          </a:prstGeom>
          <a:solidFill>
            <a:schemeClr val="bg1"/>
          </a:solidFill>
          <a:ln w="76200"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5EFAB2D-EAB1-C3AC-597A-0A028025FED0}"/>
              </a:ext>
            </a:extLst>
          </p:cNvPr>
          <p:cNvSpPr/>
          <p:nvPr/>
        </p:nvSpPr>
        <p:spPr>
          <a:xfrm>
            <a:off x="1263898" y="15157670"/>
            <a:ext cx="8980490" cy="40011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2000" kern="100" dirty="0">
                <a:solidFill>
                  <a:srgbClr val="00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Fig. 1. Split C-DAC 구조 (8/7C bridge capacitor)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2F4A0F1-0611-B4A4-0B00-92FC8730D5DB}"/>
              </a:ext>
            </a:extLst>
          </p:cNvPr>
          <p:cNvSpPr txBox="1"/>
          <p:nvPr/>
        </p:nvSpPr>
        <p:spPr>
          <a:xfrm>
            <a:off x="789032" y="9383319"/>
            <a:ext cx="9455356" cy="2674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SAR ADC는 중간 분해능·저전력 변환에 널리 쓰이며, 그중 C-DAC이 면적과 스위칭 전력의 대부분을 차지함. 일반적인 binary-weighted C-DAC은 상위 비트로 갈수록 커패시터가 2배씩 커져, 6비트 기준 총 64C에 달하는 큰 면적과 높은 스위칭 에너지를 유발함.</a:t>
            </a:r>
            <a:endParaRPr lang="en-US" altLang="ko-KR"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10000"/>
              </a:lnSpc>
            </a:pPr>
            <a:r>
              <a:rPr lang="ko-KR" alt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본 설계는 6비트 10 MS/s를 목표로, 면적과 전력을 최소화하기 위해 두 편의 논문</a:t>
            </a:r>
            <a:r>
              <a:rPr lang="en-US" altLang="ko-KR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(Koo, Liu)</a:t>
            </a:r>
            <a:r>
              <a:rPr lang="ko-KR" alt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에 기반한 bridge 커패시터 기반 Split C-DAC과 입력 정확도를 보장하는 </a:t>
            </a:r>
            <a:r>
              <a:rPr lang="ko-KR" alt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Bootstrapped</a:t>
            </a:r>
            <a:r>
              <a:rPr lang="ko-KR" alt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Switch를 결합한 SAR ADC 프런트엔드를 제안함.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E91B3A9-46C0-48DF-F675-66F3814B7D32}"/>
              </a:ext>
            </a:extLst>
          </p:cNvPr>
          <p:cNvSpPr txBox="1"/>
          <p:nvPr/>
        </p:nvSpPr>
        <p:spPr>
          <a:xfrm>
            <a:off x="789032" y="15647904"/>
            <a:ext cx="9455356" cy="3046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Split C-DAC은 6비트 어레이를 LSB 3비트와 MSB 3비트로 나누고, 그 사이를 8/7C 크기의 bridge 커패시터로 연결함. bridge cap이 LSB 어레이가 보는 전압을 분할하여, 상위 비트까지 큰 binary-weighted 커패시터를 쓰지 않고도 동일한 6비트 분해능을 얻음.</a:t>
            </a: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모든 단위 </a:t>
            </a:r>
            <a:r>
              <a:rPr lang="ko-KR" alt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커패시터를</a:t>
            </a:r>
            <a:r>
              <a:rPr lang="ko-KR" alt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동일한 3.38 </a:t>
            </a:r>
            <a:r>
              <a:rPr lang="ko-KR" alt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fF로</a:t>
            </a:r>
            <a:r>
              <a:rPr lang="ko-KR" alt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맞춰 </a:t>
            </a:r>
            <a:r>
              <a:rPr lang="ko-KR" alt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mismatch와</a:t>
            </a:r>
            <a:r>
              <a:rPr lang="ko-KR" alt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기생 성분에 강인하게 설계하고(Koo), monotonic 스위칭 절차로 스위칭 에너지를 낮춤(</a:t>
            </a:r>
            <a:r>
              <a:rPr lang="ko-KR" alt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Liu</a:t>
            </a:r>
            <a:r>
              <a:rPr lang="ko-KR" alt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).</a:t>
            </a: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그 결과 총 커패시턴스가 64C에서 16.14C(113/7C)로 줄어 면적이 크게 감소하고, 스위칭 에너지도 함께 절감됨.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D922557-F52D-156E-624D-A1AA57CC0947}"/>
              </a:ext>
            </a:extLst>
          </p:cNvPr>
          <p:cNvSpPr/>
          <p:nvPr/>
        </p:nvSpPr>
        <p:spPr>
          <a:xfrm>
            <a:off x="984794" y="19514208"/>
            <a:ext cx="5206456" cy="4486841"/>
          </a:xfrm>
          <a:prstGeom prst="rect">
            <a:avLst/>
          </a:prstGeom>
          <a:solidFill>
            <a:schemeClr val="bg1"/>
          </a:solidFill>
          <a:ln w="76200"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B5A96F5-6C96-866F-8D2B-961FF8C81F90}"/>
              </a:ext>
            </a:extLst>
          </p:cNvPr>
          <p:cNvSpPr/>
          <p:nvPr/>
        </p:nvSpPr>
        <p:spPr>
          <a:xfrm>
            <a:off x="-902223" y="23543066"/>
            <a:ext cx="8980490" cy="40011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2000" kern="100" dirty="0">
                <a:solidFill>
                  <a:srgbClr val="00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Fig. 2. Bootstrapped Switch 회로 (Razavi)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FEDCC47-09FC-AAB2-B00E-273ECBD3183A}"/>
              </a:ext>
            </a:extLst>
          </p:cNvPr>
          <p:cNvSpPr txBox="1"/>
          <p:nvPr/>
        </p:nvSpPr>
        <p:spPr>
          <a:xfrm>
            <a:off x="789032" y="26899448"/>
            <a:ext cx="9455356" cy="2674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출력 커패시터가 작아, 스위치가 꺼질 때 게이트 클럭이 </a:t>
            </a:r>
            <a:r>
              <a:rPr lang="ko-KR" alt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overlap</a:t>
            </a:r>
            <a:r>
              <a:rPr lang="ko-KR" alt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커패시턴스를 통해 출력에 결합되는 clock-feedthrough가 출력 오차를 유발함. </a:t>
            </a:r>
            <a:endParaRPr lang="en-US" altLang="ko-KR"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본 설계 조건에서 overlap 커패시턴스가 약 0.675 fF, 이론상 ΔV는 약 0.119 V로 계산됨.</a:t>
            </a: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이를 완화하기 위해 입력·출력 단자에 dummy 트랜지스터(W 1.6 µm / L 0.5 µm)를 추가함. 양측 dummy가 메인 채널의 잔류 전하가 source·drain으로 퍼질 때 생기는 불균형을 상쇄하여, 약 0.152 LSB만큼 정확도가 개선됨.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AC795F1-D060-33EC-6661-65522399AFCA}"/>
              </a:ext>
            </a:extLst>
          </p:cNvPr>
          <p:cNvSpPr txBox="1"/>
          <p:nvPr/>
        </p:nvSpPr>
        <p:spPr>
          <a:xfrm>
            <a:off x="11014607" y="7245801"/>
            <a:ext cx="9455356" cy="1929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sz="22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C-DAC 정적 선형성. </a:t>
            </a:r>
            <a:r>
              <a:rPr lang="ko-KR" altLang="en-US" sz="2200" b="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Transient testbench의 시간-전압 데이터를 </a:t>
            </a:r>
            <a:r>
              <a:rPr lang="ko-KR" alt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MATLAB</a:t>
            </a:r>
            <a:r>
              <a:rPr lang="ko-KR" altLang="en-US" sz="2200" b="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으로 분석하여 코드 transition마다 DNL·INL을 산출함.</a:t>
            </a: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sz="22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전달 특성이 이상 직선과 거의 일치하며, DNL 0.088 LSB, INL 0.075 LSB로 모두 ±0.1 LSB 이내임. 비트 전이 지점마다 양의 방향 튐이 누적·상쇄되어, 6비트 분해능에 충분한 선형성과 monotonic 동작을 확인함.</a:t>
            </a:r>
          </a:p>
        </p:txBody>
      </p:sp>
      <p:graphicFrame>
        <p:nvGraphicFramePr>
          <p:cNvPr id="49" name="표 48">
            <a:extLst>
              <a:ext uri="{FF2B5EF4-FFF2-40B4-BE49-F238E27FC236}">
                <a16:creationId xmlns:a16="http://schemas.microsoft.com/office/drawing/2014/main" id="{E7C9C6D2-1D79-4650-4372-8EAC4874B7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3438989"/>
              </p:ext>
            </p:extLst>
          </p:nvPr>
        </p:nvGraphicFramePr>
        <p:xfrm>
          <a:off x="11252041" y="6024751"/>
          <a:ext cx="8980488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359">
                  <a:extLst>
                    <a:ext uri="{9D8B030D-6E8A-4147-A177-3AD203B41FA5}">
                      <a16:colId xmlns:a16="http://schemas.microsoft.com/office/drawing/2014/main" val="73242525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157064455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1929303408"/>
                    </a:ext>
                  </a:extLst>
                </a:gridCol>
                <a:gridCol w="2096929">
                  <a:extLst>
                    <a:ext uri="{9D8B030D-6E8A-4147-A177-3AD203B41FA5}">
                      <a16:colId xmlns:a16="http://schemas.microsoft.com/office/drawing/2014/main" val="3824619369"/>
                    </a:ext>
                  </a:extLst>
                </a:gridCol>
              </a:tblGrid>
              <a:tr h="2421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지표</a:t>
                      </a: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DF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값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DF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단위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DF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비고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501304"/>
                  </a:ext>
                </a:extLst>
              </a:tr>
              <a:tr h="242147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DNL</a:t>
                      </a: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0.088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LSB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최대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683669"/>
                  </a:ext>
                </a:extLst>
              </a:tr>
              <a:tr h="242147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INL</a:t>
                      </a: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0.075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LSB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최대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335159"/>
                  </a:ext>
                </a:extLst>
              </a:tr>
            </a:tbl>
          </a:graphicData>
        </a:graphic>
      </p:graphicFrame>
      <p:sp>
        <p:nvSpPr>
          <p:cNvPr id="50" name="TextBox 49">
            <a:extLst>
              <a:ext uri="{FF2B5EF4-FFF2-40B4-BE49-F238E27FC236}">
                <a16:creationId xmlns:a16="http://schemas.microsoft.com/office/drawing/2014/main" id="{703E52B1-922F-CE36-D61E-7D596E8CF23E}"/>
              </a:ext>
            </a:extLst>
          </p:cNvPr>
          <p:cNvSpPr txBox="1"/>
          <p:nvPr/>
        </p:nvSpPr>
        <p:spPr>
          <a:xfrm>
            <a:off x="11014607" y="13774632"/>
            <a:ext cx="9217922" cy="155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스위칭 에너지는 MSB→LSB 각 커패시터의 전압과 전류를 곱해 전력 함수를 구한 뒤 시간에 대해 적분하여 계산함.</a:t>
            </a: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동일 단위 커패시터(3.38 fF) 기준 총 커패시턴스가 64C→16.14C로 줄고, 스위칭 에너지는 1.044 pJ→0.589 pJ로 약 43.6% 감소함.</a:t>
            </a:r>
          </a:p>
        </p:txBody>
      </p:sp>
      <p:graphicFrame>
        <p:nvGraphicFramePr>
          <p:cNvPr id="51" name="표 50">
            <a:extLst>
              <a:ext uri="{FF2B5EF4-FFF2-40B4-BE49-F238E27FC236}">
                <a16:creationId xmlns:a16="http://schemas.microsoft.com/office/drawing/2014/main" id="{5B18DA32-7E55-C82C-C9EE-0D830FEA33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9852189"/>
              </p:ext>
            </p:extLst>
          </p:nvPr>
        </p:nvGraphicFramePr>
        <p:xfrm>
          <a:off x="11252041" y="15434711"/>
          <a:ext cx="898048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5884">
                  <a:extLst>
                    <a:ext uri="{9D8B030D-6E8A-4147-A177-3AD203B41FA5}">
                      <a16:colId xmlns:a16="http://schemas.microsoft.com/office/drawing/2014/main" val="732425256"/>
                    </a:ext>
                  </a:extLst>
                </a:gridCol>
                <a:gridCol w="1864360">
                  <a:extLst>
                    <a:ext uri="{9D8B030D-6E8A-4147-A177-3AD203B41FA5}">
                      <a16:colId xmlns:a16="http://schemas.microsoft.com/office/drawing/2014/main" val="1157064455"/>
                    </a:ext>
                  </a:extLst>
                </a:gridCol>
                <a:gridCol w="2245122">
                  <a:extLst>
                    <a:ext uri="{9D8B030D-6E8A-4147-A177-3AD203B41FA5}">
                      <a16:colId xmlns:a16="http://schemas.microsoft.com/office/drawing/2014/main" val="1929303408"/>
                    </a:ext>
                  </a:extLst>
                </a:gridCol>
                <a:gridCol w="2245122">
                  <a:extLst>
                    <a:ext uri="{9D8B030D-6E8A-4147-A177-3AD203B41FA5}">
                      <a16:colId xmlns:a16="http://schemas.microsoft.com/office/drawing/2014/main" val="3824619369"/>
                    </a:ext>
                  </a:extLst>
                </a:gridCol>
              </a:tblGrid>
              <a:tr h="2754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항목</a:t>
                      </a: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DF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Conventional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DF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Split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DF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개선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501304"/>
                  </a:ext>
                </a:extLst>
              </a:tr>
              <a:tr h="275495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구조</a:t>
                      </a: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Binary-weighted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Split (LSB/MSB)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–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683669"/>
                  </a:ext>
                </a:extLst>
              </a:tr>
              <a:tr h="275495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단위 Capacitor</a:t>
                      </a: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3.38 fF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3.38 fF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동일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990858"/>
                  </a:ext>
                </a:extLst>
              </a:tr>
              <a:tr h="290176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Bridge Capacitor</a:t>
                      </a: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–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8/7 C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추가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8175755"/>
                  </a:ext>
                </a:extLst>
              </a:tr>
              <a:tr h="275495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총 Capacitance</a:t>
                      </a: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64 C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16.14 C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−74.8%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8265524"/>
                  </a:ext>
                </a:extLst>
              </a:tr>
              <a:tr h="275495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Switching Energy</a:t>
                      </a: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1.044 pJ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0.589 pJ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−43.6%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335159"/>
                  </a:ext>
                </a:extLst>
              </a:tr>
            </a:tbl>
          </a:graphicData>
        </a:graphic>
      </p:graphicFrame>
      <p:sp>
        <p:nvSpPr>
          <p:cNvPr id="53" name="TextBox 52">
            <a:extLst>
              <a:ext uri="{FF2B5EF4-FFF2-40B4-BE49-F238E27FC236}">
                <a16:creationId xmlns:a16="http://schemas.microsoft.com/office/drawing/2014/main" id="{B9B91F74-B896-A3E6-BC7C-01DAD55C1AAB}"/>
              </a:ext>
            </a:extLst>
          </p:cNvPr>
          <p:cNvSpPr txBox="1"/>
          <p:nvPr/>
        </p:nvSpPr>
        <p:spPr>
          <a:xfrm>
            <a:off x="11014607" y="18542144"/>
            <a:ext cx="9455356" cy="2674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주요 트랜지스터(M4, M5, M9) 폭을 바꿔 가며 </a:t>
            </a:r>
            <a:r>
              <a:rPr lang="ko-KR" alt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스위칭</a:t>
            </a:r>
            <a:r>
              <a:rPr lang="ko-KR" alt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에너지를 측정함. M4는 키울수록 13.16→13.50→14.42 </a:t>
            </a:r>
            <a:r>
              <a:rPr lang="ko-KR" alt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fJ로</a:t>
            </a:r>
            <a:r>
              <a:rPr lang="ko-KR" alt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증가하나, M5(13.16→12.68→12.67 </a:t>
            </a:r>
            <a:r>
              <a:rPr lang="ko-KR" alt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fJ</a:t>
            </a:r>
            <a:r>
              <a:rPr lang="ko-KR" alt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)와 M9(13.16→12.05→11.83 </a:t>
            </a:r>
            <a:r>
              <a:rPr lang="ko-KR" alt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fJ</a:t>
            </a:r>
            <a:r>
              <a:rPr lang="ko-KR" alt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)는 키울수록 감소함.</a:t>
            </a: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전력과 </a:t>
            </a:r>
            <a:r>
              <a:rPr lang="ko-KR" alt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ENOB의</a:t>
            </a:r>
            <a:r>
              <a:rPr lang="ko-KR" alt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trade-off에서</a:t>
            </a:r>
            <a:r>
              <a:rPr lang="ko-KR" alt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전력을 우선하여 M4·M5·M9의 크기만 1.5배로 조정함.</a:t>
            </a: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그 결과 </a:t>
            </a:r>
            <a:r>
              <a:rPr lang="ko-KR" alt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스위칭</a:t>
            </a:r>
            <a:r>
              <a:rPr lang="ko-KR" alt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에너지가 13.16 </a:t>
            </a:r>
            <a:r>
              <a:rPr lang="ko-KR" alt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fJ에서</a:t>
            </a:r>
            <a:r>
              <a:rPr lang="ko-KR" alt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12.56 </a:t>
            </a:r>
            <a:r>
              <a:rPr lang="ko-KR" alt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fJ로</a:t>
            </a:r>
            <a:r>
              <a:rPr lang="ko-KR" alt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줄고, </a:t>
            </a:r>
            <a:r>
              <a:rPr lang="ko-KR" alt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ENOB는</a:t>
            </a:r>
            <a:r>
              <a:rPr lang="ko-KR" alt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8.701 </a:t>
            </a:r>
            <a:r>
              <a:rPr lang="ko-KR" alt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bit에서</a:t>
            </a:r>
            <a:r>
              <a:rPr lang="ko-KR" alt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8.827 </a:t>
            </a:r>
            <a:r>
              <a:rPr lang="ko-KR" altLang="en-US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bit로</a:t>
            </a:r>
            <a:r>
              <a:rPr lang="ko-KR" alt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오히려 향상되어, 성능 저하 없이 전력을 절감함.</a:t>
            </a:r>
          </a:p>
        </p:txBody>
      </p:sp>
      <p:graphicFrame>
        <p:nvGraphicFramePr>
          <p:cNvPr id="54" name="표 53">
            <a:extLst>
              <a:ext uri="{FF2B5EF4-FFF2-40B4-BE49-F238E27FC236}">
                <a16:creationId xmlns:a16="http://schemas.microsoft.com/office/drawing/2014/main" id="{F5336322-3BA4-DA94-D2C5-26292A40CE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1065508"/>
              </p:ext>
            </p:extLst>
          </p:nvPr>
        </p:nvGraphicFramePr>
        <p:xfrm>
          <a:off x="11252041" y="22253873"/>
          <a:ext cx="6005445" cy="22867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0455">
                  <a:extLst>
                    <a:ext uri="{9D8B030D-6E8A-4147-A177-3AD203B41FA5}">
                      <a16:colId xmlns:a16="http://schemas.microsoft.com/office/drawing/2014/main" val="732425256"/>
                    </a:ext>
                  </a:extLst>
                </a:gridCol>
                <a:gridCol w="3434990">
                  <a:extLst>
                    <a:ext uri="{9D8B030D-6E8A-4147-A177-3AD203B41FA5}">
                      <a16:colId xmlns:a16="http://schemas.microsoft.com/office/drawing/2014/main" val="1157064455"/>
                    </a:ext>
                  </a:extLst>
                </a:gridCol>
              </a:tblGrid>
              <a:tr h="3797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지표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D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값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501304"/>
                  </a:ext>
                </a:extLst>
              </a:tr>
              <a:tr h="3797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ENOB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8.827 bit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683669"/>
                  </a:ext>
                </a:extLst>
              </a:tr>
              <a:tr h="3797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SINAD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54.91 dB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990858"/>
                  </a:ext>
                </a:extLst>
              </a:tr>
              <a:tr h="3881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SNR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69.83 dB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8175755"/>
                  </a:ext>
                </a:extLst>
              </a:tr>
              <a:tr h="3797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SFDR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55.72 </a:t>
                      </a:r>
                      <a:r>
                        <a:rPr lang="en-US" altLang="ko-KR" sz="1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dBc</a:t>
                      </a:r>
                      <a:endParaRPr lang="en-US" altLang="ko-KR" sz="1800" b="0" i="0" u="none" strike="noStrike" dirty="0">
                        <a:solidFill>
                          <a:schemeClr val="tx1"/>
                        </a:solidFill>
                        <a:effectLst/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8265524"/>
                  </a:ext>
                </a:extLst>
              </a:tr>
              <a:tr h="3797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THD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213832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−55.05 dB (0.177%)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335159"/>
                  </a:ext>
                </a:extLst>
              </a:tr>
            </a:tbl>
          </a:graphicData>
        </a:graphic>
      </p:graphicFrame>
      <p:sp>
        <p:nvSpPr>
          <p:cNvPr id="55" name="TextBox 54">
            <a:extLst>
              <a:ext uri="{FF2B5EF4-FFF2-40B4-BE49-F238E27FC236}">
                <a16:creationId xmlns:a16="http://schemas.microsoft.com/office/drawing/2014/main" id="{0DF71DAA-69EB-68A7-43E1-8655006EAB31}"/>
              </a:ext>
            </a:extLst>
          </p:cNvPr>
          <p:cNvSpPr txBox="1"/>
          <p:nvPr/>
        </p:nvSpPr>
        <p:spPr>
          <a:xfrm>
            <a:off x="11014607" y="25721446"/>
            <a:ext cx="9455356" cy="155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면적·전력을 기준으로 Split C-DAC을 설계해 총 커패시턴스 64C→16.14C, 스위칭 에너지 −43.6%를 달성하고, Bootstrapped Switch에 dummy 보상과 트랜지스터 사이징 최적화를 적용해 ENOB 8.83 bit(목표 6 bit 대비 충분한 마진)를 확보함.</a:t>
            </a:r>
          </a:p>
          <a:p>
            <a:pPr>
              <a:lnSpc>
                <a:spcPct val="110000"/>
              </a:lnSpc>
            </a:pPr>
            <a:r>
              <a:rPr lang="ko-KR" altLang="en-US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향후 Differential C-DAC을 검토하고, 레이아웃, 공정 진행 예정임</a:t>
            </a:r>
            <a:r>
              <a:rPr lang="en-US" altLang="ko-KR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endParaRPr lang="ko-KR" altLang="en-US" sz="2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C041826-8FC9-88A7-4014-53CC2DA62B2C}"/>
              </a:ext>
            </a:extLst>
          </p:cNvPr>
          <p:cNvSpPr txBox="1"/>
          <p:nvPr/>
        </p:nvSpPr>
        <p:spPr>
          <a:xfrm>
            <a:off x="11014607" y="28386394"/>
            <a:ext cx="9455356" cy="1184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This paper was supported by Korea Institute for Advancement of Technology(KIAT) grant funded by the Korea Government(Ministry of Education) (P0030093, “Semiconductor”-Specialized University)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6C6FFD0-9D3F-B8DD-25E2-2C03328B6BFD}"/>
              </a:ext>
            </a:extLst>
          </p:cNvPr>
          <p:cNvSpPr/>
          <p:nvPr/>
        </p:nvSpPr>
        <p:spPr>
          <a:xfrm>
            <a:off x="11139238" y="9313469"/>
            <a:ext cx="9204236" cy="3504371"/>
          </a:xfrm>
          <a:prstGeom prst="rect">
            <a:avLst/>
          </a:prstGeom>
          <a:solidFill>
            <a:schemeClr val="bg1"/>
          </a:solidFill>
          <a:ln w="76200"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02E1FA0-8BA9-DE50-B89F-A3611BF24737}"/>
              </a:ext>
            </a:extLst>
          </p:cNvPr>
          <p:cNvSpPr/>
          <p:nvPr/>
        </p:nvSpPr>
        <p:spPr>
          <a:xfrm>
            <a:off x="11418342" y="12346276"/>
            <a:ext cx="8980490" cy="40011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2000" kern="100" dirty="0">
                <a:solidFill>
                  <a:srgbClr val="00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Fig. 3. C-DAC DNL · INL · 전달 특성 곡선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595A32-0882-027E-E846-6F0FE257B3EC}"/>
              </a:ext>
            </a:extLst>
          </p:cNvPr>
          <p:cNvSpPr txBox="1"/>
          <p:nvPr/>
        </p:nvSpPr>
        <p:spPr>
          <a:xfrm>
            <a:off x="789032" y="24170434"/>
            <a:ext cx="9455356" cy="1929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ko-KR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구동</a:t>
            </a:r>
            <a:r>
              <a:rPr lang="en-US" altLang="ko-KR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부하는 Split C-DAC의 입력 커패시턴스로 약 27.52 fF이며, 출력 부하도 동일하게 맞춤. 부스트랩 battery 커패시터는 작은 값부터 키워 ENOB가 최적이 되는 약 200 fF(20×20 µm)로 결정함.</a:t>
            </a: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ko-KR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주 스위치의 NMOS와 PMOS 폭은 각각 1.6 µm, 3.2 µm(L = 0.5 µm)를 기본값으로 사용함.</a:t>
            </a:r>
          </a:p>
        </p:txBody>
      </p:sp>
      <p:pic>
        <p:nvPicPr>
          <p:cNvPr id="12" name="Google Shape;320;p8">
            <a:extLst>
              <a:ext uri="{FF2B5EF4-FFF2-40B4-BE49-F238E27FC236}">
                <a16:creationId xmlns:a16="http://schemas.microsoft.com/office/drawing/2014/main" id="{55737E20-5BEB-334D-58DF-F33765EEED8A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584579" y="22247988"/>
            <a:ext cx="2647950" cy="2303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137;g3eceb2f708d_0_25">
            <a:extLst>
              <a:ext uri="{FF2B5EF4-FFF2-40B4-BE49-F238E27FC236}">
                <a16:creationId xmlns:a16="http://schemas.microsoft.com/office/drawing/2014/main" id="{1B9E37C9-FAF4-997C-A365-C4A2734EA772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181145" y="9358606"/>
            <a:ext cx="3156837" cy="2914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138;g3eceb2f708d_0_25">
            <a:extLst>
              <a:ext uri="{FF2B5EF4-FFF2-40B4-BE49-F238E27FC236}">
                <a16:creationId xmlns:a16="http://schemas.microsoft.com/office/drawing/2014/main" id="{FD15ABED-647F-B624-B80A-77B8A276DFCA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208657" y="9358606"/>
            <a:ext cx="3156837" cy="2916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141;g3eceb2f708d_0_25">
            <a:extLst>
              <a:ext uri="{FF2B5EF4-FFF2-40B4-BE49-F238E27FC236}">
                <a16:creationId xmlns:a16="http://schemas.microsoft.com/office/drawing/2014/main" id="{AF731812-36BA-A936-D34A-9CA5C856A73E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7273366" y="9371116"/>
            <a:ext cx="3002723" cy="2896383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8A7B8582-BA28-E273-19B2-B5FB5BE4B5A9}"/>
              </a:ext>
            </a:extLst>
          </p:cNvPr>
          <p:cNvSpPr txBox="1"/>
          <p:nvPr/>
        </p:nvSpPr>
        <p:spPr>
          <a:xfrm>
            <a:off x="6224179" y="21382566"/>
            <a:ext cx="3708176" cy="2674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ko-KR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샘플링</a:t>
            </a:r>
            <a:r>
              <a:rPr lang="en-US" altLang="ko-KR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정확도를</a:t>
            </a:r>
            <a:r>
              <a:rPr lang="en-US" altLang="ko-KR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위해</a:t>
            </a:r>
            <a:r>
              <a:rPr lang="en-US" altLang="ko-KR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Bootstrapped Switch(Razavi)를 </a:t>
            </a:r>
            <a:r>
              <a:rPr lang="en-US" altLang="ko-KR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설계함</a:t>
            </a:r>
            <a:r>
              <a:rPr lang="en-US" altLang="ko-KR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 </a:t>
            </a:r>
            <a:r>
              <a:rPr lang="en-US" altLang="ko-KR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스위치</a:t>
            </a:r>
            <a:r>
              <a:rPr lang="en-US" altLang="ko-KR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ON </a:t>
            </a:r>
            <a:r>
              <a:rPr lang="en-US" altLang="ko-KR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동안</a:t>
            </a:r>
            <a:r>
              <a:rPr lang="en-US" altLang="ko-KR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게이트-소스</a:t>
            </a:r>
            <a:r>
              <a:rPr lang="en-US" altLang="ko-KR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전압을</a:t>
            </a:r>
            <a:r>
              <a:rPr lang="en-US" altLang="ko-KR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일정하게</a:t>
            </a:r>
            <a:r>
              <a:rPr lang="en-US" altLang="ko-KR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유지하여</a:t>
            </a:r>
            <a:r>
              <a:rPr lang="en-US" altLang="ko-KR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en-US" altLang="ko-KR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입력</a:t>
            </a:r>
            <a:r>
              <a:rPr lang="en-US" altLang="ko-KR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전압에</a:t>
            </a:r>
            <a:r>
              <a:rPr lang="en-US" altLang="ko-KR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무관한</a:t>
            </a:r>
            <a:r>
              <a:rPr lang="en-US" altLang="ko-KR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낮은</a:t>
            </a:r>
            <a:r>
              <a:rPr lang="en-US" altLang="ko-KR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on-</a:t>
            </a:r>
            <a:r>
              <a:rPr lang="en-US" altLang="ko-KR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저항과</a:t>
            </a:r>
            <a:r>
              <a:rPr lang="en-US" altLang="ko-KR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높은</a:t>
            </a:r>
            <a:r>
              <a:rPr lang="en-US" altLang="ko-KR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선형성을</a:t>
            </a:r>
            <a:r>
              <a:rPr lang="en-US" altLang="ko-KR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22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확보함</a:t>
            </a:r>
            <a:r>
              <a:rPr lang="en-US" altLang="ko-KR" sz="2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E7A6F9CE-C87B-ACA0-A3AE-A448069DE53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359"/>
          <a:stretch>
            <a:fillRect/>
          </a:stretch>
        </p:blipFill>
        <p:spPr>
          <a:xfrm>
            <a:off x="984794" y="13919307"/>
            <a:ext cx="8751858" cy="1267935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B589C6F0-BE43-1EFC-5ED6-7D488A1B18F7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20292" t="-4006"/>
          <a:stretch>
            <a:fillRect/>
          </a:stretch>
        </p:blipFill>
        <p:spPr>
          <a:xfrm>
            <a:off x="1263898" y="19627581"/>
            <a:ext cx="4548664" cy="3915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203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545</TotalTime>
  <Words>963</Words>
  <Application>Microsoft Office PowerPoint</Application>
  <PresentationFormat>사용자 지정</PresentationFormat>
  <Paragraphs>89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Pretendard Light</vt:lpstr>
      <vt:lpstr>Pretendard Medium</vt:lpstr>
      <vt:lpstr>Pretendard SemiBold</vt:lpstr>
      <vt:lpstr>Arial</vt:lpstr>
      <vt:lpstr>Calibri</vt:lpstr>
      <vt:lpstr>Calibri Light</vt:lpstr>
      <vt:lpstr>Wingdings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신동현</dc:creator>
  <cp:lastModifiedBy>장혁 최</cp:lastModifiedBy>
  <cp:revision>32</cp:revision>
  <dcterms:created xsi:type="dcterms:W3CDTF">2023-01-17T09:55:40Z</dcterms:created>
  <dcterms:modified xsi:type="dcterms:W3CDTF">2026-06-15T07:55:24Z</dcterms:modified>
</cp:coreProperties>
</file>