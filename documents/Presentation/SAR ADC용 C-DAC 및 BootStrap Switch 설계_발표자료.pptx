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Malgun Gothic" panose="020B0503020000020004" pitchFamily="34" charset="-12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pBbRprw/vDDdHSUr3oVqY+UYw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3DE58F-6DF9-4285-BED0-70B66BE76146}">
  <a:tblStyle styleId="{4C3DE58F-6DF9-4285-BED0-70B66BE76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1C1B0A-8A28-45BA-ABA6-D28D33F6A40A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/>
              <a:t>우리는 </a:t>
            </a:r>
            <a:r>
              <a:rPr lang="ko-KR" dirty="0" err="1"/>
              <a:t>Split</a:t>
            </a:r>
            <a:r>
              <a:rPr lang="ko-KR" dirty="0"/>
              <a:t> C-DAC 구조 사용, 레이아웃 미진행으로 </a:t>
            </a:r>
            <a:r>
              <a:rPr lang="ko-KR" dirty="0" err="1"/>
              <a:t>Bootstrapped</a:t>
            </a:r>
            <a:r>
              <a:rPr lang="ko-KR" dirty="0"/>
              <a:t> </a:t>
            </a:r>
            <a:r>
              <a:rPr lang="ko-KR" dirty="0" err="1"/>
              <a:t>switch에</a:t>
            </a:r>
            <a:r>
              <a:rPr lang="ko-KR" dirty="0"/>
              <a:t> 집중함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목차는 다음과 같다.</a:t>
            </a: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강의자료와 다른 Split 구조의 C-DAC을 사용했는데, IEEE 두 개의 논문을 참고하였음</a:t>
            </a: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eb2f708d_16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ceb2f708d_16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우리가 설계할 sar adc 회로 목표 성능은 다음과 같다. trade-off 관계에서 면적과 전력 소모를 최소화하려고 함.</a:t>
            </a:r>
            <a:endParaRPr/>
          </a:p>
        </p:txBody>
      </p:sp>
      <p:sp>
        <p:nvSpPr>
          <p:cNvPr id="106" name="Google Shape;106;g3eceb2f708d_16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Bridge C-Cap의 원리는 다음과 같다 (작성할 것). 이 구조의 장검으로는 면적, 소비전력, 스위칭 면에서 장점이 있다. 면적과 소비전력에서 몇 %의 이득이 있는지 구체적인 수치는 추후 슬라이드에서 소개한다.</a:t>
            </a: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eb2f708d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ceb2f708d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C-DAC 동작 검증을 위한 testbench다. step이 절반씩 올라가는 것을 확인할 수 있다. (thermometer code와 유사한 방식임을 설명할 것.)</a:t>
            </a:r>
            <a:endParaRPr/>
          </a:p>
        </p:txBody>
      </p:sp>
      <p:sp>
        <p:nvSpPr>
          <p:cNvPr id="126" name="Google Shape;126;g3eceb2f708d_3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eb2f708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ceb2f708d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C-DAC의 DNL, INL 은 테스트벤치 시간-전압 포인트를 매트랩으로 분석하여 다음과 같은 그래프를 도출했다. code transition이 일어날 때마다 포인트가 찍혀있으며, 비트가 변할 때 양수 방향으로 크게 튀는 것을 확인할 수 있다. 이로써 INL 누적이 상쇄되어 INL이 감소하다가 다시 위로 증가하는 형상을 확인할 수 있다.</a:t>
            </a:r>
            <a:endParaRPr/>
          </a:p>
        </p:txBody>
      </p:sp>
      <p:sp>
        <p:nvSpPr>
          <p:cNvPr id="134" name="Google Shape;134;g3eceb2f708d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ceb2f708d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ceb2f708d_1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강의 자료의 binary weighted array의 conventional C-DAC과 저희가 설계한 Split C-DAC의 스위칭 전력을 비교한 결과입니다. 약 43.6% 감소했다. 에너지 계산 방식은 msb부터 lsb까지의 각 전악과 전류를 곱하여 시간에 따른 파워 함수를 구한 후, 시간에 대해 적분하여 계산하였다.</a:t>
            </a:r>
            <a:endParaRPr/>
          </a:p>
        </p:txBody>
      </p:sp>
      <p:sp>
        <p:nvSpPr>
          <p:cNvPr id="145" name="Google Shape;145;g3eceb2f708d_1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면적 측면에서, Split은 16.14C, conventional은 64C로 역시 동일 크기 cap 사용시, cap 개수가 split이 적어 면적이 작아짐을 알 수 있다.</a:t>
            </a: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ceb2f708d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ceb2f708d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SAR ADC 구성에 있어, Split 구조를 채택해 면적과 에너지면에서는 이득을 봤지만, Split구조에는 한계가 존재한다. (본문 참고해서 작성해)</a:t>
            </a:r>
            <a:endParaRPr/>
          </a:p>
        </p:txBody>
      </p:sp>
      <p:sp>
        <p:nvSpPr>
          <p:cNvPr id="165" name="Google Shape;165;g3eceb2f708d_2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다음은 Split C-DAC 사용을 고혀한 Bootstrapped  Switch다. 출력 cap은 driving 해야 하는 split C-DAC의 cap들을 고려했을 때 27.52fF 이 나온다.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bootstrapped switch의 배터리 capacitor는 작은 값부터 올려가며 ENOB 성능을 최적화 하였다.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Bootstrapped Switch Sampling 파형이다. sample시 입력 전압을 따라가고, hold시 마지막 샘플된 입력 전압을 유지하는 특징을 확인할 수 잇다. 뒤에서 해결방안과 함께 후술하겠지만 hold 시 전압이 감소하는 clock-feedthrough 문제가 있다.</a:t>
            </a:r>
            <a:endParaRPr sz="200"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/>
              <a:t>(문제에 대한 페이지). </a:t>
            </a:r>
            <a:r>
              <a:rPr lang="ko-KR" sz="1300" dirty="0" err="1"/>
              <a:t>clock-feedthrough영향이</a:t>
            </a:r>
            <a:r>
              <a:rPr lang="ko-KR" sz="1300" dirty="0"/>
              <a:t> 이론상 </a:t>
            </a:r>
            <a:r>
              <a:rPr lang="ko-KR" sz="2800" dirty="0"/>
              <a:t>ΔV =0.119 </a:t>
            </a:r>
            <a:r>
              <a:rPr lang="ko-KR" sz="2800" dirty="0" err="1"/>
              <a:t>V</a:t>
            </a:r>
            <a:r>
              <a:rPr lang="ko-KR" sz="2800" dirty="0"/>
              <a:t> 있다. </a:t>
            </a:r>
            <a:r>
              <a:rPr lang="ko-KR" sz="1300" dirty="0"/>
              <a:t> 해결을 위해 </a:t>
            </a:r>
            <a:r>
              <a:rPr lang="ko-KR" sz="1300" dirty="0" err="1"/>
              <a:t>입력,출력</a:t>
            </a:r>
            <a:r>
              <a:rPr lang="ko-KR" sz="1300" dirty="0"/>
              <a:t> 단자에 </a:t>
            </a:r>
            <a:r>
              <a:rPr lang="ko-KR" sz="1300" dirty="0" err="1"/>
              <a:t>dummy</a:t>
            </a:r>
            <a:r>
              <a:rPr lang="ko-KR" sz="1300" dirty="0"/>
              <a:t> </a:t>
            </a:r>
            <a:r>
              <a:rPr lang="ko-KR" sz="1300" dirty="0" err="1"/>
              <a:t>cap을</a:t>
            </a:r>
            <a:r>
              <a:rPr lang="ko-KR" sz="1300" dirty="0"/>
              <a:t> 연결했다. </a:t>
            </a:r>
            <a:r>
              <a:rPr lang="ko-KR" sz="1300" dirty="0" err="1"/>
              <a:t>dummy</a:t>
            </a:r>
            <a:r>
              <a:rPr lang="ko-KR" sz="1300" dirty="0"/>
              <a:t> 2개를 사용하게 되면 채널에 잔류하는 전하가 </a:t>
            </a:r>
            <a:r>
              <a:rPr lang="ko-KR" sz="1300" dirty="0" err="1"/>
              <a:t>Source</a:t>
            </a:r>
            <a:r>
              <a:rPr lang="ko-KR" sz="1300" dirty="0"/>
              <a:t>, </a:t>
            </a:r>
            <a:r>
              <a:rPr lang="ko-KR" sz="1300" dirty="0" err="1"/>
              <a:t>drain으로</a:t>
            </a:r>
            <a:r>
              <a:rPr lang="ko-KR" sz="1300" dirty="0"/>
              <a:t> 퍼질 때, 불균형성이 완화됨. </a:t>
            </a:r>
            <a:endParaRPr sz="500"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ceb2f708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ceb2f708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</a:t>
            </a:r>
            <a:r>
              <a:rPr lang="ko-KR" sz="1300"/>
              <a:t>clock-feedthrough 영향 감소가 더 좋아짐. 0.152LSB 만큼의 개선되는 것을 </a:t>
            </a:r>
            <a:endParaRPr/>
          </a:p>
        </p:txBody>
      </p:sp>
      <p:sp>
        <p:nvSpPr>
          <p:cNvPr id="210" name="Google Shape;210;g3eceb2f708d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ceb2f708d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ceb2f708d_2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 sz="2800"/>
              <a:t>ENOB, SFDR, THD 측정을 위해 FFT를 진행한 결과다.</a:t>
            </a:r>
            <a:endParaRPr/>
          </a:p>
        </p:txBody>
      </p:sp>
      <p:sp>
        <p:nvSpPr>
          <p:cNvPr id="218" name="Google Shape;218;g3eceb2f708d_2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a72f20f3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a72f20f36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ea72f20f36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a0dd03e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a0dd03e3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Pmos, Nmos Width에 변경에 따른 Bootstrap switch 에너지 소비 변화를 비교했다. nos: 1.6, pmos : 3.2를 기본값으로 두고 m4만 변경해보았다.</a:t>
            </a:r>
            <a:endParaRPr/>
          </a:p>
        </p:txBody>
      </p:sp>
      <p:sp>
        <p:nvSpPr>
          <p:cNvPr id="237" name="Google Shape;237;g3ea0dd03e3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a72f20f3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a72f20f36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ea72f20f36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a0dd03e3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a0dd03e3c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이번에는 m5만 변경해 보았다.</a:t>
            </a:r>
            <a:endParaRPr/>
          </a:p>
        </p:txBody>
      </p:sp>
      <p:sp>
        <p:nvSpPr>
          <p:cNvPr id="266" name="Google Shape;266;g3ea0dd03e3c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a72f20f3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a72f20f36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ea72f20f36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a0dd03e3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a0dd03e3c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이번에는 m9만 변경해 보았다.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a0dd03e3c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a0dd03e3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a0dd03e3c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최종적으로 nos: 1.6, pmos : 3.2를 기본값으로 두고 m4, m5, m9 크기만 1.5배 조절한 결과 다음과 같다. 전력과 enob trade-off를 고려했다. 전력으 우선순위로 두고 충분한 enob(8.827 bit)를 확보했다.</a:t>
            </a:r>
            <a:endParaRPr/>
          </a:p>
        </p:txBody>
      </p:sp>
      <p:sp>
        <p:nvSpPr>
          <p:cNvPr id="313" name="Google Shape;313;g3ea0dd03e3c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계산한 </a:t>
            </a:r>
            <a:r>
              <a:rPr lang="ko-KR" sz="2800"/>
              <a:t>ENOB, SFDR, THD는 다음과 같다. (본문 내용 첨언)</a:t>
            </a:r>
            <a:endParaRPr/>
          </a:p>
        </p:txBody>
      </p:sp>
      <p:sp>
        <p:nvSpPr>
          <p:cNvPr id="318" name="Google Shape;3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ceb2f708d_16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ceb2f708d_16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eceb2f708d_16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316700" y="737901"/>
            <a:ext cx="9558600" cy="25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 sz="5400" b="1" dirty="0">
                <a:solidFill>
                  <a:srgbClr val="003876"/>
                </a:solidFill>
              </a:rPr>
              <a:t>SAR </a:t>
            </a:r>
            <a:r>
              <a:rPr lang="ko-KR" sz="5400" b="1" dirty="0" err="1">
                <a:solidFill>
                  <a:srgbClr val="003876"/>
                </a:solidFill>
              </a:rPr>
              <a:t>ADC용</a:t>
            </a:r>
            <a:r>
              <a:rPr lang="ko-KR" sz="5400" b="1" dirty="0">
                <a:solidFill>
                  <a:srgbClr val="003876"/>
                </a:solidFill>
              </a:rPr>
              <a:t> C-DAC 및 </a:t>
            </a:r>
            <a:r>
              <a:rPr lang="ko-KR" sz="5400" b="1" dirty="0" err="1">
                <a:solidFill>
                  <a:srgbClr val="003876"/>
                </a:solidFill>
              </a:rPr>
              <a:t>Boot</a:t>
            </a:r>
            <a:r>
              <a:rPr lang="en-US" altLang="ko-KR" sz="5400" b="1" dirty="0">
                <a:solidFill>
                  <a:srgbClr val="003876"/>
                </a:solidFill>
              </a:rPr>
              <a:t>s</a:t>
            </a:r>
            <a:r>
              <a:rPr lang="ko-KR" sz="5400" b="1" dirty="0" err="1">
                <a:solidFill>
                  <a:srgbClr val="003876"/>
                </a:solidFill>
              </a:rPr>
              <a:t>trapped</a:t>
            </a:r>
            <a:r>
              <a:rPr lang="ko-KR" sz="5400" b="1" dirty="0">
                <a:solidFill>
                  <a:srgbClr val="003876"/>
                </a:solidFill>
              </a:rPr>
              <a:t> </a:t>
            </a:r>
            <a:r>
              <a:rPr lang="ko-KR" sz="5400" b="1" dirty="0" err="1">
                <a:solidFill>
                  <a:srgbClr val="003876"/>
                </a:solidFill>
              </a:rPr>
              <a:t>Switch</a:t>
            </a:r>
            <a:r>
              <a:rPr lang="ko-KR" sz="5400" b="1" dirty="0">
                <a:solidFill>
                  <a:srgbClr val="003876"/>
                </a:solidFill>
              </a:rPr>
              <a:t> 설계</a:t>
            </a:r>
            <a:endParaRPr sz="5400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/>
              <a:t>전자전기공학부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 err="1"/>
              <a:t>최장혁</a:t>
            </a:r>
            <a:r>
              <a:rPr lang="ko-KR" dirty="0"/>
              <a:t>, </a:t>
            </a:r>
            <a:r>
              <a:rPr lang="ko-KR" dirty="0" err="1"/>
              <a:t>김규현</a:t>
            </a:r>
            <a:r>
              <a:rPr lang="ko-KR" dirty="0"/>
              <a:t>, </a:t>
            </a:r>
            <a:r>
              <a:rPr lang="ko-KR" dirty="0" err="1"/>
              <a:t>박치수</a:t>
            </a:r>
            <a:r>
              <a:rPr lang="ko-KR" dirty="0"/>
              <a:t>, </a:t>
            </a:r>
            <a:r>
              <a:rPr lang="ko-KR" dirty="0" err="1"/>
              <a:t>서준상</a:t>
            </a:r>
            <a:r>
              <a:rPr lang="ko-KR" dirty="0"/>
              <a:t>, </a:t>
            </a:r>
            <a:r>
              <a:rPr lang="ko-KR" dirty="0" err="1"/>
              <a:t>유찬종</a:t>
            </a:r>
            <a:r>
              <a:rPr lang="ko-KR" dirty="0"/>
              <a:t>, 이선우, </a:t>
            </a:r>
            <a:r>
              <a:rPr lang="ko-KR" dirty="0" err="1"/>
              <a:t>임한규</a:t>
            </a:r>
            <a:r>
              <a:rPr lang="ko-KR" dirty="0"/>
              <a:t>, 정규성</a:t>
            </a:r>
            <a:endParaRPr dirty="0"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7625" y="4966250"/>
            <a:ext cx="1762579" cy="165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Rectangle 9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 flipV="1">
            <a:off x="1527048" y="3429000"/>
            <a:ext cx="9348252" cy="4572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목차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목표 SAR ADC 성능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설계한 Split C-DAC 소개</a:t>
            </a:r>
            <a:endParaRPr sz="2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설계한 Bootstrapped Switch 소개</a:t>
            </a:r>
            <a:endParaRPr sz="2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Split C-DAC로 인한 문제점, 해결책 제시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Bootstrapped Switch의 성능 측정</a:t>
            </a:r>
            <a:endParaRPr sz="20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결론 및 향후 진행 계획</a:t>
            </a:r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Split C-DAC</a:t>
            </a:r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두 개의 논문을 참고하여 Split 구조를 채택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J. Koo, Theogarajan, "A Parasitic and Mismatch Tolerant Fully Common-Centroided and Shielded Split-CDAC With Identical Unit Capacitors for SAR-ADC," (IEEE)</a:t>
            </a:r>
            <a:endParaRPr/>
          </a:p>
          <a:p>
            <a:pPr marL="6858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Liu, S. "A 10-bit 50-MS/s SAR ADC With a Monotonic Capacitor Switching Procedure,“ (IEEE)</a:t>
            </a:r>
            <a:endParaRPr/>
          </a:p>
          <a:p>
            <a:pPr marL="6858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Rectangle 10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eb2f708d_16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SAR ADC 회로 목표 성능</a:t>
            </a:r>
            <a:endParaRPr/>
          </a:p>
        </p:txBody>
      </p:sp>
      <p:sp>
        <p:nvSpPr>
          <p:cNvPr id="109" name="Google Shape;109;g3eceb2f708d_16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목표 비트 수: 6 bits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목표 Sampling Speed: 10 MS/s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면적과 전력 소모를 최소화 하기 위한 설계 고려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75" y="1803337"/>
            <a:ext cx="11241098" cy="174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838200" y="504025"/>
            <a:ext cx="3541200" cy="12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Split C-DAC</a:t>
            </a: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664900" y="4186775"/>
            <a:ext cx="10515600" cy="2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921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ko-KR"/>
              <a:t>두 논문을 결합한 advantage – 면적, 소비전력, 스위칭 속도</a:t>
            </a: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921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ko-KR"/>
              <a:t>Bridge C-Cap 사용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5"/>
          <p:cNvGrpSpPr/>
          <p:nvPr/>
        </p:nvGrpSpPr>
        <p:grpSpPr>
          <a:xfrm>
            <a:off x="5023300" y="2508370"/>
            <a:ext cx="2045700" cy="631931"/>
            <a:chOff x="5500750" y="1602095"/>
            <a:chExt cx="2045700" cy="631931"/>
          </a:xfrm>
        </p:grpSpPr>
        <p:sp>
          <p:nvSpPr>
            <p:cNvPr id="118" name="Google Shape;118;p5"/>
            <p:cNvSpPr txBox="1"/>
            <p:nvPr/>
          </p:nvSpPr>
          <p:spPr>
            <a:xfrm>
              <a:off x="5500750" y="1710325"/>
              <a:ext cx="20457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chemeClr val="lt1"/>
                  </a:solidFill>
                </a:rPr>
                <a:t>Bridge_C =     C </a:t>
              </a:r>
              <a:endParaRPr sz="1500">
                <a:solidFill>
                  <a:schemeClr val="lt1"/>
                </a:solidFill>
              </a:endParaRPr>
            </a:p>
          </p:txBody>
        </p:sp>
        <p:grpSp>
          <p:nvGrpSpPr>
            <p:cNvPr id="119" name="Google Shape;119;p5"/>
            <p:cNvGrpSpPr/>
            <p:nvPr/>
          </p:nvGrpSpPr>
          <p:grpSpPr>
            <a:xfrm>
              <a:off x="6534371" y="1602095"/>
              <a:ext cx="305675" cy="631931"/>
              <a:chOff x="8599925" y="1023991"/>
              <a:chExt cx="750306" cy="631931"/>
            </a:xfrm>
          </p:grpSpPr>
          <p:sp>
            <p:nvSpPr>
              <p:cNvPr id="120" name="Google Shape;120;p5"/>
              <p:cNvSpPr txBox="1"/>
              <p:nvPr/>
            </p:nvSpPr>
            <p:spPr>
              <a:xfrm>
                <a:off x="8599925" y="1037475"/>
                <a:ext cx="7503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500">
                    <a:solidFill>
                      <a:schemeClr val="lt1"/>
                    </a:solidFill>
                  </a:rPr>
                  <a:t>_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1" name="Google Shape;121;p5"/>
              <p:cNvSpPr txBox="1"/>
              <p:nvPr/>
            </p:nvSpPr>
            <p:spPr>
              <a:xfrm>
                <a:off x="8599931" y="1023991"/>
                <a:ext cx="7503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500">
                    <a:solidFill>
                      <a:schemeClr val="lt1"/>
                    </a:solidFill>
                  </a:rPr>
                  <a:t>8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  <p:sp>
            <p:nvSpPr>
              <p:cNvPr id="122" name="Google Shape;122;p5"/>
              <p:cNvSpPr txBox="1"/>
              <p:nvPr/>
            </p:nvSpPr>
            <p:spPr>
              <a:xfrm>
                <a:off x="8599931" y="1240422"/>
                <a:ext cx="7503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500">
                    <a:solidFill>
                      <a:schemeClr val="lt1"/>
                    </a:solidFill>
                  </a:rPr>
                  <a:t>7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23" name="Rectangle 12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eb2f708d_3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Split C-DAC Transient Response</a:t>
            </a:r>
            <a:endParaRPr/>
          </a:p>
        </p:txBody>
      </p:sp>
      <p:sp>
        <p:nvSpPr>
          <p:cNvPr id="129" name="Google Shape;129;g3eceb2f708d_3_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g3eceb2f708d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050" y="1825625"/>
            <a:ext cx="9749868" cy="453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Rectangle 13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ceb2f708d_0_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Split C-DAC DNL, INL</a:t>
            </a:r>
            <a:endParaRPr/>
          </a:p>
        </p:txBody>
      </p:sp>
      <p:pic>
        <p:nvPicPr>
          <p:cNvPr id="137" name="Google Shape;137;g3eceb2f708d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85" y="3248898"/>
            <a:ext cx="4481347" cy="3359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eceb2f708d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3335" y="3078955"/>
            <a:ext cx="4918665" cy="368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eceb2f708d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1622" y="1371688"/>
            <a:ext cx="3888755" cy="29154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Rectangle 14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07 / 26</a:t>
            </a:r>
          </a:p>
        </p:txBody>
      </p:sp>
      <p:sp>
        <p:nvSpPr>
          <p:cNvPr id="3" name="Google Shape;139;g3eceb2f708d_0_25"/>
          <p:cNvSpPr txBox="1"/>
          <p:nvPr/>
        </p:nvSpPr>
        <p:spPr>
          <a:xfrm>
            <a:off x="1101020" y="2213825"/>
            <a:ext cx="194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DNL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40;g3eceb2f708d_0_25"/>
          <p:cNvSpPr txBox="1"/>
          <p:nvPr/>
        </p:nvSpPr>
        <p:spPr>
          <a:xfrm>
            <a:off x="8121992" y="2293025"/>
            <a:ext cx="194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INL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eb2f708d_16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Split C-DAC Switching Energy </a:t>
            </a:r>
            <a:endParaRPr/>
          </a:p>
        </p:txBody>
      </p:sp>
      <p:sp>
        <p:nvSpPr>
          <p:cNvPr id="148" name="Google Shape;148;g3eceb2f708d_16_0"/>
          <p:cNvSpPr txBox="1">
            <a:spLocks noGrp="1"/>
          </p:cNvSpPr>
          <p:nvPr>
            <p:ph type="body" idx="1"/>
          </p:nvPr>
        </p:nvSpPr>
        <p:spPr>
          <a:xfrm>
            <a:off x="1046100" y="5731975"/>
            <a:ext cx="10307700" cy="7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Conventional : 1.044 pJ                     Split : 0.589 pJ </a:t>
            </a:r>
            <a:endParaRPr/>
          </a:p>
        </p:txBody>
      </p:sp>
      <p:pic>
        <p:nvPicPr>
          <p:cNvPr id="149" name="Google Shape;149;g3eceb2f708d_16_0"/>
          <p:cNvPicPr preferRelativeResize="0"/>
          <p:nvPr/>
        </p:nvPicPr>
        <p:blipFill rotWithShape="1">
          <a:blip r:embed="rId3">
            <a:alphaModFix/>
          </a:blip>
          <a:srcRect l="51212"/>
          <a:stretch/>
        </p:blipFill>
        <p:spPr>
          <a:xfrm>
            <a:off x="665575" y="1849375"/>
            <a:ext cx="5253748" cy="356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eceb2f708d_16_0"/>
          <p:cNvPicPr preferRelativeResize="0"/>
          <p:nvPr/>
        </p:nvPicPr>
        <p:blipFill rotWithShape="1">
          <a:blip r:embed="rId3">
            <a:alphaModFix/>
          </a:blip>
          <a:srcRect r="52231"/>
          <a:stretch/>
        </p:blipFill>
        <p:spPr>
          <a:xfrm>
            <a:off x="6337750" y="1849375"/>
            <a:ext cx="5144023" cy="35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eceb2f708d_16_0"/>
          <p:cNvSpPr/>
          <p:nvPr/>
        </p:nvSpPr>
        <p:spPr>
          <a:xfrm>
            <a:off x="5570050" y="5802000"/>
            <a:ext cx="1121100" cy="34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  <a:highlight>
                <a:srgbClr val="FF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3eceb2f708d_16_0"/>
          <p:cNvSpPr txBox="1"/>
          <p:nvPr/>
        </p:nvSpPr>
        <p:spPr>
          <a:xfrm>
            <a:off x="5393090" y="6218850"/>
            <a:ext cx="16137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43.6% 감소</a:t>
            </a:r>
            <a:endParaRPr sz="500" b="1"/>
          </a:p>
        </p:txBody>
      </p:sp>
      <p:sp>
        <p:nvSpPr>
          <p:cNvPr id="153" name="Rectangle 15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>
            <a:spLocks noGrp="1"/>
          </p:cNvSpPr>
          <p:nvPr>
            <p:ph type="title"/>
          </p:nvPr>
        </p:nvSpPr>
        <p:spPr>
          <a:xfrm>
            <a:off x="771125" y="348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Split C-DAC</a:t>
            </a:r>
            <a:endParaRPr/>
          </a:p>
        </p:txBody>
      </p:sp>
      <p:sp>
        <p:nvSpPr>
          <p:cNvPr id="158" name="Google Shape;158;p4"/>
          <p:cNvSpPr txBox="1">
            <a:spLocks noGrp="1"/>
          </p:cNvSpPr>
          <p:nvPr>
            <p:ph type="body" idx="1"/>
          </p:nvPr>
        </p:nvSpPr>
        <p:spPr>
          <a:xfrm>
            <a:off x="3318164" y="1825625"/>
            <a:ext cx="4955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7650" algn="l" rtl="0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ko-KR" sz="2400"/>
              <a:t>면적, 파워 면에서 장점을 가짐</a:t>
            </a:r>
            <a:endParaRPr sz="24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  <p:graphicFrame>
        <p:nvGraphicFramePr>
          <p:cNvPr id="159" name="Google Shape;159;p4"/>
          <p:cNvGraphicFramePr/>
          <p:nvPr>
            <p:extLst>
              <p:ext uri="{D42A27DB-BD31-4B8C-83A1-F6EECF244321}">
                <p14:modId xmlns:p14="http://schemas.microsoft.com/office/powerpoint/2010/main" val="1915210611"/>
              </p:ext>
            </p:extLst>
          </p:nvPr>
        </p:nvGraphicFramePr>
        <p:xfrm>
          <a:off x="3497064" y="2798875"/>
          <a:ext cx="5524800" cy="2566500"/>
        </p:xfrm>
        <a:graphic>
          <a:graphicData uri="http://schemas.openxmlformats.org/drawingml/2006/table">
            <a:tbl>
              <a:tblPr>
                <a:noFill/>
                <a:tableStyleId>{4C3DE58F-6DF9-4285-BED0-70B66BE76146}</a:tableStyleId>
              </a:tblPr>
              <a:tblGrid>
                <a:gridCol w="18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/>
                        <a:t>Split C-DAC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dirty="0"/>
                        <a:t>기존 C-DAC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/>
                        <a:t>총 Capacitance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/>
                        <a:t>113/7C(C= 3.38f F)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dirty="0"/>
                        <a:t>64C(C= 3.38f </a:t>
                      </a:r>
                      <a:r>
                        <a:rPr lang="ko-KR" sz="1600" dirty="0" err="1"/>
                        <a:t>F</a:t>
                      </a:r>
                      <a:r>
                        <a:rPr lang="ko-KR" sz="1600" dirty="0"/>
                        <a:t>)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/>
                        <a:t>Energy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/>
                        <a:t>0.589 pJ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dirty="0"/>
                        <a:t>1.044 </a:t>
                      </a:r>
                      <a:r>
                        <a:rPr lang="ko-KR" sz="1600" dirty="0" err="1"/>
                        <a:t>pJ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1" name="Google Shape;161;p4"/>
          <p:cNvSpPr txBox="1"/>
          <p:nvPr/>
        </p:nvSpPr>
        <p:spPr>
          <a:xfrm>
            <a:off x="3417389" y="5644275"/>
            <a:ext cx="55248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Switching Energy 약 43.6 % 감소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eb2f708d_2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Split C-DAC의 한계</a:t>
            </a:r>
            <a:endParaRPr/>
          </a:p>
        </p:txBody>
      </p:sp>
      <p:sp>
        <p:nvSpPr>
          <p:cNvPr id="168" name="Google Shape;168;g3eceb2f708d_2_10"/>
          <p:cNvSpPr txBox="1">
            <a:spLocks noGrp="1"/>
          </p:cNvSpPr>
          <p:nvPr>
            <p:ph type="body" idx="1"/>
          </p:nvPr>
        </p:nvSpPr>
        <p:spPr>
          <a:xfrm>
            <a:off x="838200" y="1853875"/>
            <a:ext cx="10515600" cy="374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47650" algn="l" rtl="0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ko-KR"/>
              <a:t>Bridge Capacitor가 8/7C의 용량을 가짐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-&gt; 공정 상의 오차 유발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47650" algn="l" rtl="0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ko-KR"/>
              <a:t>기생 Capacitance 영향 증가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-&gt; Voltage 분할 비율이 틀어짐	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47650" algn="l" rtl="0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ko-KR"/>
              <a:t>Floating Node(V_X)를 초기화 하기 위한 추가 회로가 필요 </a:t>
            </a:r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6"/>
          <p:cNvGrpSpPr/>
          <p:nvPr/>
        </p:nvGrpSpPr>
        <p:grpSpPr>
          <a:xfrm>
            <a:off x="5588475" y="734475"/>
            <a:ext cx="6355726" cy="4254150"/>
            <a:chOff x="5588475" y="1557425"/>
            <a:chExt cx="6355726" cy="4254150"/>
          </a:xfrm>
        </p:grpSpPr>
        <p:pic>
          <p:nvPicPr>
            <p:cNvPr id="175" name="Google Shape;175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88475" y="1557425"/>
              <a:ext cx="6355726" cy="425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58400" y="5088626"/>
              <a:ext cx="685800" cy="3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sz="3600" b="1" dirty="0" err="1">
                <a:solidFill>
                  <a:srgbClr val="003876"/>
                </a:solidFill>
              </a:rPr>
              <a:t>Bootstrapped</a:t>
            </a:r>
            <a:r>
              <a:rPr lang="ko-KR" sz="3600" b="1" dirty="0">
                <a:solidFill>
                  <a:srgbClr val="003876"/>
                </a:solidFill>
              </a:rPr>
              <a:t> </a:t>
            </a:r>
            <a:r>
              <a:rPr lang="ko-KR" sz="3600" b="1" dirty="0" err="1">
                <a:solidFill>
                  <a:srgbClr val="003876"/>
                </a:solidFill>
              </a:rPr>
              <a:t>Switch</a:t>
            </a:r>
            <a:endParaRPr sz="3600" dirty="0"/>
          </a:p>
        </p:txBody>
      </p:sp>
      <p:sp>
        <p:nvSpPr>
          <p:cNvPr id="178" name="Google Shape;178;p6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4667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78700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 sz="2000" dirty="0" err="1"/>
              <a:t>B</a:t>
            </a:r>
            <a:r>
              <a:rPr lang="ko-KR" sz="2000" dirty="0"/>
              <a:t>. </a:t>
            </a:r>
            <a:r>
              <a:rPr lang="ko-KR" sz="2000" dirty="0" err="1"/>
              <a:t>Razavi</a:t>
            </a:r>
            <a:r>
              <a:rPr lang="ko-KR" sz="2000" dirty="0"/>
              <a:t>, "</a:t>
            </a:r>
            <a:r>
              <a:rPr lang="ko-KR" sz="2000" b="1" dirty="0"/>
              <a:t>The </a:t>
            </a:r>
            <a:r>
              <a:rPr lang="ko-KR" sz="2000" b="1" dirty="0" err="1"/>
              <a:t>Bootstrapped</a:t>
            </a:r>
            <a:r>
              <a:rPr lang="ko-KR" sz="2000" b="1" dirty="0"/>
              <a:t> </a:t>
            </a:r>
            <a:r>
              <a:rPr lang="ko-KR" sz="2000" b="1" dirty="0" err="1"/>
              <a:t>Switch</a:t>
            </a:r>
            <a:endParaRPr sz="2000"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/>
              <a:t>[</a:t>
            </a:r>
            <a:r>
              <a:rPr lang="ko-KR" sz="2000" b="1" dirty="0" err="1"/>
              <a:t>A</a:t>
            </a:r>
            <a:r>
              <a:rPr lang="ko-KR" sz="2000" b="1" dirty="0"/>
              <a:t> Circuit </a:t>
            </a:r>
            <a:r>
              <a:rPr lang="ko-KR" sz="2000" b="1" dirty="0" err="1"/>
              <a:t>for</a:t>
            </a:r>
            <a:r>
              <a:rPr lang="ko-KR" sz="2000" b="1" dirty="0"/>
              <a:t> All </a:t>
            </a:r>
            <a:r>
              <a:rPr lang="ko-KR" sz="2000" b="1" dirty="0" err="1"/>
              <a:t>Seasons</a:t>
            </a:r>
            <a:r>
              <a:rPr lang="ko-KR" sz="2000" b="1" dirty="0"/>
              <a:t>]</a:t>
            </a:r>
            <a:r>
              <a:rPr lang="ko-KR" sz="2000" dirty="0"/>
              <a:t>," </a:t>
            </a:r>
            <a:r>
              <a:rPr lang="ko-KR" sz="2000" dirty="0" err="1"/>
              <a:t>in</a:t>
            </a:r>
            <a:r>
              <a:rPr lang="ko-KR" sz="2000" dirty="0"/>
              <a:t> </a:t>
            </a:r>
            <a:r>
              <a:rPr lang="ko-KR" sz="2000" i="1" dirty="0"/>
              <a:t>IEEE </a:t>
            </a:r>
            <a:r>
              <a:rPr lang="ko-KR" sz="2000" i="1" dirty="0" err="1"/>
              <a:t>Solid</a:t>
            </a:r>
            <a:r>
              <a:rPr lang="ko-KR" sz="2000" i="1" dirty="0"/>
              <a:t>-State </a:t>
            </a:r>
            <a:r>
              <a:rPr lang="ko-KR" sz="2000" i="1" dirty="0" err="1"/>
              <a:t>Circuits</a:t>
            </a:r>
            <a:r>
              <a:rPr lang="ko-KR" sz="2000" i="1" dirty="0"/>
              <a:t> </a:t>
            </a:r>
            <a:r>
              <a:rPr lang="ko-KR" sz="2000" i="1" dirty="0" err="1"/>
              <a:t>Magazine</a:t>
            </a:r>
            <a:r>
              <a:rPr lang="ko-KR" sz="2000" dirty="0"/>
              <a:t>, </a:t>
            </a:r>
            <a:r>
              <a:rPr lang="ko-KR" sz="2000" dirty="0" err="1"/>
              <a:t>vol</a:t>
            </a:r>
            <a:r>
              <a:rPr lang="ko-KR" sz="2000" dirty="0"/>
              <a:t>. 7, </a:t>
            </a:r>
            <a:endParaRPr sz="20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 err="1"/>
              <a:t>no</a:t>
            </a:r>
            <a:r>
              <a:rPr lang="ko-KR" sz="2000" dirty="0"/>
              <a:t>. 3, </a:t>
            </a:r>
            <a:r>
              <a:rPr lang="ko-KR" sz="2000" dirty="0" err="1"/>
              <a:t>pp</a:t>
            </a:r>
            <a:r>
              <a:rPr lang="ko-KR" sz="2000" dirty="0"/>
              <a:t>. 12-15, </a:t>
            </a:r>
            <a:r>
              <a:rPr lang="ko-KR" sz="2000" dirty="0" err="1"/>
              <a:t>Summer</a:t>
            </a:r>
            <a:r>
              <a:rPr lang="ko-KR" sz="2000" dirty="0"/>
              <a:t> 2015</a:t>
            </a:r>
            <a:endParaRPr sz="2000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 sz="2000" dirty="0"/>
              <a:t>설계한 </a:t>
            </a:r>
            <a:r>
              <a:rPr lang="ko-KR" sz="2000" dirty="0" err="1"/>
              <a:t>Split</a:t>
            </a:r>
            <a:r>
              <a:rPr lang="ko-KR" sz="2000" dirty="0"/>
              <a:t> C-DAC 의</a:t>
            </a:r>
            <a:endParaRPr sz="2000" dirty="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2000" dirty="0"/>
              <a:t>입력 </a:t>
            </a:r>
            <a:r>
              <a:rPr lang="ko-KR" sz="2000" dirty="0" err="1"/>
              <a:t>cap과</a:t>
            </a:r>
            <a:r>
              <a:rPr lang="ko-KR" sz="2000" dirty="0"/>
              <a:t> 동일한 27.52f </a:t>
            </a:r>
            <a:r>
              <a:rPr lang="ko-KR" sz="2000" dirty="0" err="1"/>
              <a:t>F</a:t>
            </a:r>
            <a:r>
              <a:rPr lang="ko-KR" sz="2000" dirty="0"/>
              <a:t> 사용</a:t>
            </a:r>
            <a:endParaRPr sz="2000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 sz="2000" dirty="0"/>
              <a:t>각 </a:t>
            </a:r>
            <a:r>
              <a:rPr lang="ko-KR" sz="2000" dirty="0" err="1"/>
              <a:t>nmos</a:t>
            </a:r>
            <a:r>
              <a:rPr lang="ko-KR" sz="2000" dirty="0"/>
              <a:t>, </a:t>
            </a:r>
            <a:r>
              <a:rPr lang="ko-KR" sz="2000" dirty="0" err="1"/>
              <a:t>pmos</a:t>
            </a:r>
            <a:r>
              <a:rPr lang="ko-KR" sz="2000" dirty="0"/>
              <a:t>, </a:t>
            </a:r>
            <a:r>
              <a:rPr lang="ko-KR" sz="2000" dirty="0" err="1"/>
              <a:t>Boost_Cap의</a:t>
            </a:r>
            <a:r>
              <a:rPr lang="ko-KR" sz="2000" dirty="0"/>
              <a:t>  </a:t>
            </a:r>
            <a:r>
              <a:rPr lang="ko-KR" sz="2000" dirty="0" err="1"/>
              <a:t>W</a:t>
            </a:r>
            <a:r>
              <a:rPr lang="ko-KR" sz="2000" dirty="0"/>
              <a:t>, </a:t>
            </a:r>
            <a:r>
              <a:rPr lang="ko-KR" sz="2000" dirty="0" err="1"/>
              <a:t>L</a:t>
            </a:r>
            <a:endParaRPr sz="3200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/>
          </a:p>
        </p:txBody>
      </p:sp>
      <p:graphicFrame>
        <p:nvGraphicFramePr>
          <p:cNvPr id="179" name="Google Shape;179;p6"/>
          <p:cNvGraphicFramePr/>
          <p:nvPr>
            <p:extLst>
              <p:ext uri="{D42A27DB-BD31-4B8C-83A1-F6EECF244321}">
                <p14:modId xmlns:p14="http://schemas.microsoft.com/office/powerpoint/2010/main" val="3411930307"/>
              </p:ext>
            </p:extLst>
          </p:nvPr>
        </p:nvGraphicFramePr>
        <p:xfrm>
          <a:off x="1066801" y="5304225"/>
          <a:ext cx="3848600" cy="1074450"/>
        </p:xfrm>
        <a:graphic>
          <a:graphicData uri="http://schemas.openxmlformats.org/drawingml/2006/table">
            <a:tbl>
              <a:tblPr firstRow="1" bandRow="1">
                <a:noFill/>
                <a:tableStyleId>{001C1B0A-8A28-45BA-ABA6-D28D33F6A40A}</a:tableStyleId>
              </a:tblPr>
              <a:tblGrid>
                <a:gridCol w="8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/>
                    </a:p>
                  </a:txBody>
                  <a:tcPr marL="91450" marR="91450" marT="45725" marB="45725"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/>
                        <a:t>nmos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/>
                        <a:t>pmos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/>
                        <a:t>Bootstrap_C</a:t>
                      </a:r>
                      <a:endParaRPr sz="1050"/>
                    </a:p>
                  </a:txBody>
                  <a:tcPr marL="91450" marR="91450" marT="45725" marB="45725"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>
                          <a:solidFill>
                            <a:schemeClr val="lt1"/>
                          </a:solidFill>
                        </a:rPr>
                        <a:t>width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/>
                        <a:t>1.6um</a:t>
                      </a:r>
                      <a:endParaRPr sz="1050" b="1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/>
                        <a:t>3.2um</a:t>
                      </a:r>
                      <a:endParaRPr sz="1050" b="1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/>
                        <a:t>20um</a:t>
                      </a: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>
                          <a:solidFill>
                            <a:schemeClr val="lt1"/>
                          </a:solidFill>
                        </a:rPr>
                        <a:t>length</a:t>
                      </a: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/>
                        <a:t>0.5um</a:t>
                      </a:r>
                      <a:endParaRPr sz="1050" b="1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/>
                        <a:t>0.5um</a:t>
                      </a:r>
                      <a:endParaRPr sz="1050" b="1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/>
                        <a:t>20um</a:t>
                      </a:r>
                      <a:endParaRPr sz="105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" name="Google Shape;180;p6"/>
          <p:cNvSpPr/>
          <p:nvPr/>
        </p:nvSpPr>
        <p:spPr>
          <a:xfrm>
            <a:off x="10764177" y="3475001"/>
            <a:ext cx="695400" cy="8547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0524150" y="4329703"/>
            <a:ext cx="10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27.52</a:t>
            </a:r>
            <a:r>
              <a:rPr lang="ko-KR" sz="1800" b="1" i="0" u="none" strike="noStrike" cap="none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 F</a:t>
            </a:r>
            <a:endParaRPr sz="1800" b="1">
              <a:solidFill>
                <a:srgbClr val="00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747552" y="2752446"/>
            <a:ext cx="449700" cy="6612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484150" y="3413653"/>
            <a:ext cx="10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</a:t>
            </a:r>
            <a:r>
              <a:rPr lang="ko-KR" sz="1800" b="1" i="0" u="none" strike="noStrike" cap="none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 F</a:t>
            </a:r>
            <a:endParaRPr sz="1800" b="1">
              <a:solidFill>
                <a:srgbClr val="00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5">
            <a:alphaModFix/>
          </a:blip>
          <a:srcRect l="29681"/>
          <a:stretch/>
        </p:blipFill>
        <p:spPr>
          <a:xfrm>
            <a:off x="6253696" y="5400100"/>
            <a:ext cx="4865751" cy="10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7412776" y="5523975"/>
            <a:ext cx="3185700" cy="8547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Bootstrapped Switch Sampling 파형</a:t>
            </a:r>
            <a:endParaRPr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t="7987"/>
          <a:stretch/>
        </p:blipFill>
        <p:spPr>
          <a:xfrm>
            <a:off x="838200" y="1782616"/>
            <a:ext cx="10515599" cy="447393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Rectangle 19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>
                <a:solidFill>
                  <a:srgbClr val="003876"/>
                </a:solidFill>
              </a:rPr>
              <a:t>Split</a:t>
            </a:r>
            <a:r>
              <a:rPr lang="ko-KR" b="1" dirty="0">
                <a:solidFill>
                  <a:srgbClr val="003876"/>
                </a:solidFill>
              </a:rPr>
              <a:t> C-</a:t>
            </a:r>
            <a:r>
              <a:rPr lang="ko-KR" b="1" dirty="0" err="1">
                <a:solidFill>
                  <a:srgbClr val="003876"/>
                </a:solidFill>
              </a:rPr>
              <a:t>DAC에</a:t>
            </a:r>
            <a:r>
              <a:rPr lang="ko-KR" b="1" dirty="0">
                <a:solidFill>
                  <a:srgbClr val="003876"/>
                </a:solidFill>
              </a:rPr>
              <a:t> 의한 문제점</a:t>
            </a:r>
            <a:endParaRPr dirty="0"/>
          </a:p>
        </p:txBody>
      </p:sp>
      <p:sp>
        <p:nvSpPr>
          <p:cNvPr id="197" name="Google Shape;197;p7"/>
          <p:cNvSpPr txBox="1">
            <a:spLocks noGrp="1"/>
          </p:cNvSpPr>
          <p:nvPr>
            <p:ph type="body" idx="1"/>
          </p:nvPr>
        </p:nvSpPr>
        <p:spPr>
          <a:xfrm>
            <a:off x="710275" y="1808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출력 Cap이 작아 clock-feedthrough 에 의한 출력에 오차 발생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/>
              <a:t>     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/>
              <a:t>   -&gt;  Dummy 추가하여 완화</a:t>
            </a:r>
            <a:endParaRPr sz="20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228600" lvl="0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Dummy Size: (W: 1.6um / L: 0.5um)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228600" lvl="0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Width가 2um인 NMOS의 overlap capacitance = 0.675 fF</a:t>
            </a: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grpSp>
        <p:nvGrpSpPr>
          <p:cNvPr id="198" name="Google Shape;198;p7"/>
          <p:cNvGrpSpPr/>
          <p:nvPr/>
        </p:nvGrpSpPr>
        <p:grpSpPr>
          <a:xfrm>
            <a:off x="7753738" y="2561953"/>
            <a:ext cx="4378081" cy="3470095"/>
            <a:chOff x="7220725" y="1729025"/>
            <a:chExt cx="4670949" cy="3702225"/>
          </a:xfrm>
        </p:grpSpPr>
        <p:pic>
          <p:nvPicPr>
            <p:cNvPr id="199" name="Google Shape;199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20725" y="1729025"/>
              <a:ext cx="4670949" cy="3702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7"/>
            <p:cNvSpPr/>
            <p:nvPr/>
          </p:nvSpPr>
          <p:spPr>
            <a:xfrm>
              <a:off x="9845825" y="3066425"/>
              <a:ext cx="1241100" cy="1519800"/>
            </a:xfrm>
            <a:prstGeom prst="rect">
              <a:avLst/>
            </a:prstGeom>
            <a:noFill/>
            <a:ln w="27850" cap="flat" cmpd="sng">
              <a:solidFill>
                <a:srgbClr val="00FF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6850" tIns="33425" rIns="66850" bIns="33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16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8209150" y="3066425"/>
              <a:ext cx="1241100" cy="1519800"/>
            </a:xfrm>
            <a:prstGeom prst="rect">
              <a:avLst/>
            </a:prstGeom>
            <a:noFill/>
            <a:ln w="27850" cap="flat" cmpd="sng">
              <a:solidFill>
                <a:srgbClr val="00FF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6850" tIns="33425" rIns="66850" bIns="33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16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10627026" y="4733477"/>
              <a:ext cx="833100" cy="28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50" tIns="33425" rIns="66850" bIns="3342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16" b="1">
                  <a:solidFill>
                    <a:srgbClr val="00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Dummy</a:t>
              </a:r>
              <a:endParaRPr sz="1316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8950476" y="4733477"/>
              <a:ext cx="833100" cy="28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50" tIns="33425" rIns="66850" bIns="3342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16" b="1">
                  <a:solidFill>
                    <a:srgbClr val="00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Dummy</a:t>
              </a:r>
              <a:endParaRPr sz="1316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04" name="Google Shape;20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325" y="3904500"/>
            <a:ext cx="4377975" cy="13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>
            <a:spLocks noGrp="1"/>
          </p:cNvSpPr>
          <p:nvPr>
            <p:ph type="body" idx="1"/>
          </p:nvPr>
        </p:nvSpPr>
        <p:spPr>
          <a:xfrm>
            <a:off x="9441583" y="6261162"/>
            <a:ext cx="2388107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 sz="1500" dirty="0" err="1">
                <a:latin typeface="+mj-ea"/>
                <a:ea typeface="+mj-ea"/>
                <a:cs typeface="Roboto"/>
                <a:sym typeface="Roboto"/>
              </a:rPr>
              <a:t>source</a:t>
            </a:r>
            <a:r>
              <a:rPr lang="ko-KR" sz="1500" dirty="0">
                <a:latin typeface="+mj-ea"/>
                <a:ea typeface="+mj-ea"/>
                <a:cs typeface="Roboto"/>
                <a:sym typeface="Roboto"/>
              </a:rPr>
              <a:t> : 강의자료 3 (2)</a:t>
            </a:r>
            <a:endParaRPr sz="1500" dirty="0">
              <a:latin typeface="+mj-ea"/>
              <a:ea typeface="+mj-ea"/>
              <a:cs typeface="Roboto"/>
              <a:sym typeface="Roboto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457325" y="5459350"/>
            <a:ext cx="3315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ΔV =0.119 V</a:t>
            </a:r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eb2f708d_0_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Dummy 추가 전/후 Sampling 파형 비교</a:t>
            </a:r>
            <a:endParaRPr/>
          </a:p>
        </p:txBody>
      </p:sp>
      <p:pic>
        <p:nvPicPr>
          <p:cNvPr id="213" name="Google Shape;213;g3eceb2f708d_0_45"/>
          <p:cNvPicPr preferRelativeResize="0"/>
          <p:nvPr/>
        </p:nvPicPr>
        <p:blipFill rotWithShape="1">
          <a:blip r:embed="rId3">
            <a:alphaModFix/>
          </a:blip>
          <a:srcRect l="15083" t="10122" r="1032" b="-1806"/>
          <a:stretch/>
        </p:blipFill>
        <p:spPr>
          <a:xfrm>
            <a:off x="1936750" y="1895975"/>
            <a:ext cx="8318500" cy="4705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eceb2f708d_0_45"/>
          <p:cNvSpPr txBox="1"/>
          <p:nvPr/>
        </p:nvSpPr>
        <p:spPr>
          <a:xfrm>
            <a:off x="2060150" y="3511687"/>
            <a:ext cx="4602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Red: Dummy O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Green: Dummy X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ceb2f708d_2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Bootstrapped Switch FFT</a:t>
            </a:r>
            <a:endParaRPr/>
          </a:p>
        </p:txBody>
      </p:sp>
      <p:sp>
        <p:nvSpPr>
          <p:cNvPr id="221" name="Google Shape;221;g3eceb2f708d_2_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g3eceb2f708d_2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75" y="1521025"/>
            <a:ext cx="10465726" cy="5209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Rectangle 22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a72f20f36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ea72f20f36_0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g3ea72f20f36_0_18"/>
          <p:cNvGrpSpPr/>
          <p:nvPr/>
        </p:nvGrpSpPr>
        <p:grpSpPr>
          <a:xfrm>
            <a:off x="2207473" y="689124"/>
            <a:ext cx="8451845" cy="5657169"/>
            <a:chOff x="5588475" y="1557425"/>
            <a:chExt cx="6355726" cy="4254150"/>
          </a:xfrm>
        </p:grpSpPr>
        <p:pic>
          <p:nvPicPr>
            <p:cNvPr id="231" name="Google Shape;231;g3ea72f20f36_0_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88475" y="1557425"/>
              <a:ext cx="6355726" cy="425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g3ea72f20f36_0_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58400" y="5088626"/>
              <a:ext cx="685800" cy="3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g3ea72f20f36_0_18"/>
          <p:cNvSpPr/>
          <p:nvPr/>
        </p:nvSpPr>
        <p:spPr>
          <a:xfrm>
            <a:off x="7582273" y="4152551"/>
            <a:ext cx="924600" cy="1136100"/>
          </a:xfrm>
          <a:prstGeom prst="rect">
            <a:avLst/>
          </a:prstGeom>
          <a:noFill/>
          <a:ln w="50675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575" tIns="60800" rIns="121575" bIns="6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4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ea0dd03e3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88" y="304800"/>
            <a:ext cx="11095827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a0dd03e3c_0_0"/>
          <p:cNvSpPr txBox="1"/>
          <p:nvPr/>
        </p:nvSpPr>
        <p:spPr>
          <a:xfrm>
            <a:off x="1919225" y="51747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13.16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g3ea0dd03e3c_0_0"/>
          <p:cNvSpPr txBox="1"/>
          <p:nvPr/>
        </p:nvSpPr>
        <p:spPr>
          <a:xfrm>
            <a:off x="5725250" y="51747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13.50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ea0dd03e3c_0_0"/>
          <p:cNvSpPr txBox="1"/>
          <p:nvPr/>
        </p:nvSpPr>
        <p:spPr>
          <a:xfrm>
            <a:off x="9531275" y="51747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14.42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3" name="Google Shape;243;g3ea0dd03e3c_0_0"/>
          <p:cNvCxnSpPr/>
          <p:nvPr/>
        </p:nvCxnSpPr>
        <p:spPr>
          <a:xfrm>
            <a:off x="1323899" y="2260819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g3ea0dd03e3c_0_0"/>
          <p:cNvCxnSpPr/>
          <p:nvPr/>
        </p:nvCxnSpPr>
        <p:spPr>
          <a:xfrm>
            <a:off x="1323899" y="275304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g3ea0dd03e3c_0_0"/>
          <p:cNvCxnSpPr/>
          <p:nvPr/>
        </p:nvCxnSpPr>
        <p:spPr>
          <a:xfrm>
            <a:off x="1323899" y="306629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g3ea0dd03e3c_0_0"/>
          <p:cNvCxnSpPr/>
          <p:nvPr/>
        </p:nvCxnSpPr>
        <p:spPr>
          <a:xfrm>
            <a:off x="5236174" y="2260819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g3ea0dd03e3c_0_0"/>
          <p:cNvCxnSpPr/>
          <p:nvPr/>
        </p:nvCxnSpPr>
        <p:spPr>
          <a:xfrm>
            <a:off x="5236174" y="275304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g3ea0dd03e3c_0_0"/>
          <p:cNvCxnSpPr/>
          <p:nvPr/>
        </p:nvCxnSpPr>
        <p:spPr>
          <a:xfrm>
            <a:off x="5236174" y="306629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g3ea0dd03e3c_0_0"/>
          <p:cNvCxnSpPr/>
          <p:nvPr/>
        </p:nvCxnSpPr>
        <p:spPr>
          <a:xfrm>
            <a:off x="9078124" y="2260819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g3ea0dd03e3c_0_0"/>
          <p:cNvCxnSpPr/>
          <p:nvPr/>
        </p:nvCxnSpPr>
        <p:spPr>
          <a:xfrm>
            <a:off x="9078124" y="275304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g3ea0dd03e3c_0_0"/>
          <p:cNvCxnSpPr/>
          <p:nvPr/>
        </p:nvCxnSpPr>
        <p:spPr>
          <a:xfrm>
            <a:off x="9078124" y="306629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Rectangle 25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a72f20f36_0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ea72f20f36_0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g3ea72f20f36_0_28"/>
          <p:cNvGrpSpPr/>
          <p:nvPr/>
        </p:nvGrpSpPr>
        <p:grpSpPr>
          <a:xfrm>
            <a:off x="2207473" y="689124"/>
            <a:ext cx="8451845" cy="5657169"/>
            <a:chOff x="5588475" y="1557425"/>
            <a:chExt cx="6355726" cy="4254150"/>
          </a:xfrm>
        </p:grpSpPr>
        <p:pic>
          <p:nvPicPr>
            <p:cNvPr id="260" name="Google Shape;260;g3ea72f20f36_0_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88475" y="1557425"/>
              <a:ext cx="6355726" cy="425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g3ea72f20f36_0_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58400" y="5088626"/>
              <a:ext cx="685800" cy="3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g3ea72f20f36_0_28"/>
          <p:cNvSpPr/>
          <p:nvPr/>
        </p:nvSpPr>
        <p:spPr>
          <a:xfrm>
            <a:off x="6418098" y="4182801"/>
            <a:ext cx="924600" cy="1136100"/>
          </a:xfrm>
          <a:prstGeom prst="rect">
            <a:avLst/>
          </a:prstGeom>
          <a:noFill/>
          <a:ln w="50675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575" tIns="60800" rIns="121575" bIns="6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4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ea0dd03e3c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200" y="304800"/>
            <a:ext cx="11181597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ea0dd03e3c_0_13"/>
          <p:cNvSpPr txBox="1"/>
          <p:nvPr/>
        </p:nvSpPr>
        <p:spPr>
          <a:xfrm>
            <a:off x="1990300" y="521742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13.16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g3ea0dd03e3c_0_13"/>
          <p:cNvSpPr txBox="1"/>
          <p:nvPr/>
        </p:nvSpPr>
        <p:spPr>
          <a:xfrm>
            <a:off x="5881625" y="521742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12.68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g3ea0dd03e3c_0_13"/>
          <p:cNvSpPr txBox="1"/>
          <p:nvPr/>
        </p:nvSpPr>
        <p:spPr>
          <a:xfrm>
            <a:off x="9858225" y="521742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12.67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2" name="Google Shape;272;g3ea0dd03e3c_0_13"/>
          <p:cNvCxnSpPr/>
          <p:nvPr/>
        </p:nvCxnSpPr>
        <p:spPr>
          <a:xfrm>
            <a:off x="1323899" y="2260819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g3ea0dd03e3c_0_13"/>
          <p:cNvCxnSpPr/>
          <p:nvPr/>
        </p:nvCxnSpPr>
        <p:spPr>
          <a:xfrm>
            <a:off x="1323899" y="275304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g3ea0dd03e3c_0_13"/>
          <p:cNvCxnSpPr/>
          <p:nvPr/>
        </p:nvCxnSpPr>
        <p:spPr>
          <a:xfrm>
            <a:off x="1323899" y="306629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g3ea0dd03e3c_0_13"/>
          <p:cNvCxnSpPr/>
          <p:nvPr/>
        </p:nvCxnSpPr>
        <p:spPr>
          <a:xfrm>
            <a:off x="5270192" y="2286333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g3ea0dd03e3c_0_13"/>
          <p:cNvCxnSpPr/>
          <p:nvPr/>
        </p:nvCxnSpPr>
        <p:spPr>
          <a:xfrm>
            <a:off x="5270192" y="2778558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g3ea0dd03e3c_0_13"/>
          <p:cNvCxnSpPr/>
          <p:nvPr/>
        </p:nvCxnSpPr>
        <p:spPr>
          <a:xfrm>
            <a:off x="5270192" y="3091808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g3ea0dd03e3c_0_13"/>
          <p:cNvCxnSpPr/>
          <p:nvPr/>
        </p:nvCxnSpPr>
        <p:spPr>
          <a:xfrm>
            <a:off x="9231205" y="2277828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g3ea0dd03e3c_0_13"/>
          <p:cNvCxnSpPr/>
          <p:nvPr/>
        </p:nvCxnSpPr>
        <p:spPr>
          <a:xfrm>
            <a:off x="9231205" y="2770053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g3ea0dd03e3c_0_13"/>
          <p:cNvCxnSpPr/>
          <p:nvPr/>
        </p:nvCxnSpPr>
        <p:spPr>
          <a:xfrm>
            <a:off x="9231205" y="3083303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1" name="Rectangle 28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a72f20f36_0_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ea72f20f36_0_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8" name="Google Shape;288;g3ea72f20f36_0_38"/>
          <p:cNvGrpSpPr/>
          <p:nvPr/>
        </p:nvGrpSpPr>
        <p:grpSpPr>
          <a:xfrm>
            <a:off x="2207473" y="689124"/>
            <a:ext cx="8451845" cy="5657169"/>
            <a:chOff x="5588475" y="1557425"/>
            <a:chExt cx="6355726" cy="4254150"/>
          </a:xfrm>
        </p:grpSpPr>
        <p:pic>
          <p:nvPicPr>
            <p:cNvPr id="289" name="Google Shape;289;g3ea72f20f36_0_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88475" y="1557425"/>
              <a:ext cx="6355726" cy="425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g3ea72f20f36_0_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58400" y="5088626"/>
              <a:ext cx="685800" cy="3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g3ea72f20f36_0_38"/>
          <p:cNvSpPr/>
          <p:nvPr/>
        </p:nvSpPr>
        <p:spPr>
          <a:xfrm>
            <a:off x="5193473" y="1975401"/>
            <a:ext cx="924600" cy="1136100"/>
          </a:xfrm>
          <a:prstGeom prst="rect">
            <a:avLst/>
          </a:prstGeom>
          <a:noFill/>
          <a:ln w="50675" cap="flat" cmpd="sng">
            <a:solidFill>
              <a:srgbClr val="00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575" tIns="60800" rIns="121575" bIns="6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4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g3ea0dd03e3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00" y="152400"/>
            <a:ext cx="1117080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ea0dd03e3c_0_7"/>
          <p:cNvSpPr txBox="1"/>
          <p:nvPr/>
        </p:nvSpPr>
        <p:spPr>
          <a:xfrm>
            <a:off x="1848125" y="50894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13.16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3ea0dd03e3c_0_7"/>
          <p:cNvSpPr txBox="1"/>
          <p:nvPr/>
        </p:nvSpPr>
        <p:spPr>
          <a:xfrm>
            <a:off x="5867400" y="50894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12.05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g3ea0dd03e3c_0_7"/>
          <p:cNvSpPr txBox="1"/>
          <p:nvPr/>
        </p:nvSpPr>
        <p:spPr>
          <a:xfrm>
            <a:off x="9886675" y="5089475"/>
            <a:ext cx="139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11.83 fJ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1" name="Google Shape;301;g3ea0dd03e3c_0_7"/>
          <p:cNvCxnSpPr/>
          <p:nvPr/>
        </p:nvCxnSpPr>
        <p:spPr>
          <a:xfrm>
            <a:off x="1298403" y="2124737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g3ea0dd03e3c_0_7"/>
          <p:cNvCxnSpPr/>
          <p:nvPr/>
        </p:nvCxnSpPr>
        <p:spPr>
          <a:xfrm>
            <a:off x="1298403" y="2616962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g3ea0dd03e3c_0_7"/>
          <p:cNvCxnSpPr/>
          <p:nvPr/>
        </p:nvCxnSpPr>
        <p:spPr>
          <a:xfrm>
            <a:off x="1298403" y="2930212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g3ea0dd03e3c_0_7"/>
          <p:cNvCxnSpPr/>
          <p:nvPr/>
        </p:nvCxnSpPr>
        <p:spPr>
          <a:xfrm>
            <a:off x="5210678" y="2124737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g3ea0dd03e3c_0_7"/>
          <p:cNvCxnSpPr/>
          <p:nvPr/>
        </p:nvCxnSpPr>
        <p:spPr>
          <a:xfrm>
            <a:off x="5210678" y="2616962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g3ea0dd03e3c_0_7"/>
          <p:cNvCxnSpPr/>
          <p:nvPr/>
        </p:nvCxnSpPr>
        <p:spPr>
          <a:xfrm>
            <a:off x="5210678" y="2930212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g3ea0dd03e3c_0_7"/>
          <p:cNvCxnSpPr/>
          <p:nvPr/>
        </p:nvCxnSpPr>
        <p:spPr>
          <a:xfrm>
            <a:off x="9211378" y="2102059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g3ea0dd03e3c_0_7"/>
          <p:cNvCxnSpPr/>
          <p:nvPr/>
        </p:nvCxnSpPr>
        <p:spPr>
          <a:xfrm>
            <a:off x="9211378" y="259428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g3ea0dd03e3c_0_7"/>
          <p:cNvCxnSpPr/>
          <p:nvPr/>
        </p:nvCxnSpPr>
        <p:spPr>
          <a:xfrm>
            <a:off x="9211378" y="2907534"/>
            <a:ext cx="15081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Rectangle 30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Rectangle 310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TextBox 311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g3ea0dd03e3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38" y="304800"/>
            <a:ext cx="11605122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Rectangle 3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TextBox 317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988" y="1325100"/>
            <a:ext cx="5235575" cy="47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Bootstrapped Switch</a:t>
            </a:r>
            <a:endParaRPr/>
          </a:p>
        </p:txBody>
      </p:sp>
      <p:sp>
        <p:nvSpPr>
          <p:cNvPr id="322" name="Google Shape;322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ENOB, SFDR, THD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Layout시 ENOB 하락을 고려하여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ENOB 8.8 bits로 설계 </a:t>
            </a:r>
            <a:br>
              <a:rPr lang="ko-KR"/>
            </a:br>
            <a:r>
              <a:rPr lang="ko-KR"/>
              <a:t>(Layout 목표 ENOB = 6 bit)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cxnSp>
        <p:nvCxnSpPr>
          <p:cNvPr id="323" name="Google Shape;323;p8"/>
          <p:cNvCxnSpPr/>
          <p:nvPr/>
        </p:nvCxnSpPr>
        <p:spPr>
          <a:xfrm>
            <a:off x="7596674" y="2735894"/>
            <a:ext cx="2681700" cy="147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8"/>
          <p:cNvCxnSpPr/>
          <p:nvPr/>
        </p:nvCxnSpPr>
        <p:spPr>
          <a:xfrm>
            <a:off x="7548908" y="3582542"/>
            <a:ext cx="2834100" cy="21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8"/>
          <p:cNvCxnSpPr/>
          <p:nvPr/>
        </p:nvCxnSpPr>
        <p:spPr>
          <a:xfrm>
            <a:off x="7516366" y="4160295"/>
            <a:ext cx="2819100" cy="19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Rectangle 32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Rectangle 326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TextBox 327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결론</a:t>
            </a: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body" idx="1"/>
          </p:nvPr>
        </p:nvSpPr>
        <p:spPr>
          <a:xfrm>
            <a:off x="971725" y="1843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면적, 전력 소모를 고려하여 Split C-DAC 설계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6 bits SAR ADC를 위해 Bootstrapped Switch의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ENOB를 8 bits 이상으로 설계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Rectangle 333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ceb2f708d_16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03876"/>
                </a:solidFill>
              </a:rPr>
              <a:t>향후 진행 계획</a:t>
            </a:r>
            <a:endParaRPr/>
          </a:p>
        </p:txBody>
      </p:sp>
      <p:sp>
        <p:nvSpPr>
          <p:cNvPr id="339" name="Google Shape;339;g3eceb2f708d_16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Differential C-DAC 고려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레이아웃 진행 계획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8월 10일: 회로 Layout 1차 완료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8월 31일: 최종 Layout DB 제출</a:t>
            </a:r>
            <a:endParaRPr/>
          </a:p>
        </p:txBody>
      </p:sp>
      <p:sp>
        <p:nvSpPr>
          <p:cNvPr id="340" name="Rectangle 33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ectangle 340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TextBox 341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solidFill>
                  <a:srgbClr val="003876"/>
                </a:solidFill>
              </a:rPr>
              <a:t>참고문헌</a:t>
            </a:r>
            <a:endParaRPr/>
          </a:p>
        </p:txBody>
      </p:sp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 sz="1800"/>
              <a:t>[1] J. Koo, J.-Y. Sim and L. Theogarajan, "A Parasitic and Mismatch Tolerant Fully Common-Centroided and Shielded Split-CDAC With Identical Unit Capacitors for SAR-ADC," in IEEE Transactions on Very Large Scale Integration (VLSI) Systems, vol. 34, no. 1, pp. 144-152, Jan. 2026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 sz="1800"/>
              <a:t>[2] C.-C. Liu, S.-J. Chang, G.-Y. Huang and Y.-Z. Lin, "A 10-bit 50-MS/s SAR ADC With a Monotonic Capacitor Switching Procedure," in IEEE Journal of Solid-State Circuits, vol. 45, no. 4, pp. 731-740, April 2010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 sz="1800"/>
              <a:t>[3] B. Razavi, "The Bootstrapped Switch [A Circuit for All Seasons]," in IEEE Solid-State Circuits Magazine, vol. 7, no. 3, pp. 12-15, Summer 2015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sp>
        <p:nvSpPr>
          <p:cNvPr id="346" name="Rectangle 34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146304" y="0"/>
            <a:ext cx="50292" cy="68580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47"/>
          <p:cNvSpPr txBox="1"/>
          <p:nvPr/>
        </p:nvSpPr>
        <p:spPr>
          <a:xfrm>
            <a:off x="10698480" y="91440"/>
            <a:ext cx="1234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003876"/>
                </a:solidFill>
                <a:latin typeface="Arial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1278</Words>
  <Application>Microsoft Office PowerPoint</Application>
  <PresentationFormat>와이드스크린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Malgun Gothic</vt:lpstr>
      <vt:lpstr>Arial</vt:lpstr>
      <vt:lpstr>Office 테마</vt:lpstr>
      <vt:lpstr>SAR ADC용 C-DAC 및 Bootstrapped Switch 설계</vt:lpstr>
      <vt:lpstr>목차</vt:lpstr>
      <vt:lpstr>Split C-DAC</vt:lpstr>
      <vt:lpstr>SAR ADC 회로 목표 성능</vt:lpstr>
      <vt:lpstr>Split C-DAC</vt:lpstr>
      <vt:lpstr>Split C-DAC Transient Response</vt:lpstr>
      <vt:lpstr>Split C-DAC DNL, INL</vt:lpstr>
      <vt:lpstr>Split C-DAC Switching Energy </vt:lpstr>
      <vt:lpstr>Split C-DAC</vt:lpstr>
      <vt:lpstr>Split C-DAC의 한계</vt:lpstr>
      <vt:lpstr>Bootstrapped Switch</vt:lpstr>
      <vt:lpstr>Bootstrapped Switch Sampling 파형</vt:lpstr>
      <vt:lpstr>Split C-DAC에 의한 문제점</vt:lpstr>
      <vt:lpstr>Dummy 추가 전/후 Sampling 파형 비교</vt:lpstr>
      <vt:lpstr>Bootstrapped Switch FFT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Bootstrapped Switch</vt:lpstr>
      <vt:lpstr>결론</vt:lpstr>
      <vt:lpstr>향후 진행 계획</vt:lpstr>
      <vt:lpstr>참고문헌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서준상</dc:creator>
  <cp:lastModifiedBy>이선우</cp:lastModifiedBy>
  <cp:revision>2</cp:revision>
  <dcterms:created xsi:type="dcterms:W3CDTF">2026-05-30T12:14:43Z</dcterms:created>
  <dcterms:modified xsi:type="dcterms:W3CDTF">2026-06-09T07:52:55Z</dcterms:modified>
</cp:coreProperties>
</file>